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Screenshot" Type="http://schemas.openxmlformats.org/officeDocument/2006/relationships/image" Target="../media/quick_record_ui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Screenshot" Type="http://schemas.openxmlformats.org/officeDocument/2006/relationships/image" Target="../media/dashboard_ui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Screenshot" Type="http://schemas.openxmlformats.org/officeDocument/2006/relationships/image" Target="../media/transactions_ui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Screenshot" Type="http://schemas.openxmlformats.org/officeDocument/2006/relationships/image" Target="../media/budgets_ui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COMPUTER SCIENCE &amp; ENGINEERING • CAPSTONE PROJECT</a:t>
            </a:r>
          </a:p>
          <a:p>
            <a:r>
              <a:rPr lang="en-US" sz="2600" b="1">
                <a:solidFill>
                  <a:srgbClr val="FFFFFF"/>
                </a:solidFill>
              </a:rPr>
              <a:t>Expenso: High-Speed Personal Finance Engine</a:t>
            </a:r>
          </a:p>
          <a:p>
            <a:r>
              <a:rPr lang="en-US" sz="1250">
                <a:solidFill>
                  <a:srgbClr val="94A3B8"/>
                </a:solidFill>
              </a:rPr>
              <a:t>A Privacy-First, Zero-Latency Expense Tracker Built with Clean Architecture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FINAL VIVA DEFENSE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🎯 Project Vision &amp; Core Problem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Engineered to record daily expenses in under 5 seconds (&lt; 5s benchmark).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Eliminates 6-step tedious friction found in commercial mobile trackers.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Zero Data Leakage: 100% self-hosted, user-isolated, and private.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Clean Monorepo Turborepo architecture strictly enforcing &lt; 500 LOC per file.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3B82F6"/>
                </a:solidFill>
              </a:rPr>
              <a:t>🛠️ Technology Stack Breakdown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Backend: Python 3.10+, FastAPI (Asynchronous ASGI), Pydantic v2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Database: SQLite / RDBMS with SQLAlchemy ORM &amp; Foreign Key Cascades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Security: Stateless JWT (HS256) &amp; Passlib salted bcrypt password hashing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Frontend: Modular Vanilla JS (IIFE Services/Views), Semantic CSS Tokens, Chart.js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1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INDUSTRY CONTEXT &amp; MOTIVATION</a:t>
            </a:r>
          </a:p>
          <a:p>
            <a:r>
              <a:rPr lang="en-US" sz="2600" b="1">
                <a:solidFill>
                  <a:srgbClr val="FFFFFF"/>
                </a:solidFill>
              </a:rPr>
              <a:t>Problem Statement: Why Modern Finance Apps Fail</a:t>
            </a:r>
          </a:p>
          <a:p>
            <a:r>
              <a:rPr lang="en-US" sz="1250">
                <a:solidFill>
                  <a:srgbClr val="94A3B8"/>
                </a:solidFill>
              </a:rPr>
              <a:t>Analysis of existing commercial solutions and the friction users face daily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GAP ANALYSIS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EF4444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EF4444"/>
                </a:solidFill>
              </a:rPr>
              <a:t>1. Multi-Screen Friction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Logging a single cup of tea takes 5 to 6 screens and multiple dropdown clicks.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Users experience cognitive fatigue and abandon habit tracking within 14 days.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No intelligent auto-categorization based on contextual keywords.</a:t>
            </a:r>
          </a:p>
        </p:txBody>
      </p:sp>
      <p:sp>
        <p:nvSpPr>
          <p:cNvPr id="8" name="Card_8"/>
          <p:cNvSpPr/>
          <p:nvPr/>
        </p:nvSpPr>
        <p:spPr>
          <a:xfrm>
            <a:off x="4387333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F59E0B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F59E0B"/>
                </a:solidFill>
              </a:rPr>
              <a:t>2. Invasive Data Harvesting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Free apps read user SMS inboxes and sell spending patterns to ad brokers.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Financial data is monetized without transparent user consent.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Lack of self-hosted, confidential finance management alternatives.</a:t>
            </a:r>
          </a:p>
        </p:txBody>
      </p:sp>
      <p:sp>
        <p:nvSpPr>
          <p:cNvPr id="9" name="Card_9"/>
          <p:cNvSpPr/>
          <p:nvPr/>
        </p:nvSpPr>
        <p:spPr>
          <a:xfrm>
            <a:off x="8054666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3. Excessive Framework Bloat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Heavy 15MB+ Single Page Application (SPA) bundles cause high memory pressure.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Slow startup latency on budget mobile devices and spotty network connections.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Complex compilation toolchains make maintenance difficult.</a:t>
            </a:r>
          </a:p>
        </p:txBody>
      </p:sp>
      <p:sp>
        <p:nvSpPr>
          <p:cNvPr id="10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2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SOLUTION ARCHITECTURE</a:t>
            </a:r>
          </a:p>
          <a:p>
            <a:r>
              <a:rPr lang="en-US" sz="2600" b="1">
                <a:solidFill>
                  <a:srgbClr val="FFFFFF"/>
                </a:solidFill>
              </a:rPr>
              <a:t>Expenso: Minimum Clicks, Maximum Clarity</a:t>
            </a:r>
          </a:p>
          <a:p>
            <a:r>
              <a:rPr lang="en-US" sz="1250">
                <a:solidFill>
                  <a:srgbClr val="94A3B8"/>
                </a:solidFill>
              </a:rPr>
              <a:t>Key engineering innovations designed to make expense tracking effortless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CORE INNOVATIONS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⚡ Smart Keyword Recognition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User types 'Pizza 250' -&gt; Auto-detects &amp; selects 'Food &amp; Dining'.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User types 'Uber 180' -&gt; Auto-detects &amp; selects 'Transport'.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Zero manual searching through exhaustive category dropdowns.</a:t>
            </a:r>
          </a:p>
        </p:txBody>
      </p:sp>
      <p:sp>
        <p:nvSpPr>
          <p:cNvPr id="8" name="Card_8"/>
          <p:cNvSpPr/>
          <p:nvPr/>
        </p:nvSpPr>
        <p:spPr>
          <a:xfrm>
            <a:off x="4387333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3B82F6"/>
                </a:solidFill>
              </a:rPr>
              <a:t>🛡️ Isolated Transaction Engine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Complete state separation between Expense and Income modes.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Optional Description for expenses; simplified Amount+Category for income.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Default UPI payment mode with automatic zero-click fallback.</a:t>
            </a:r>
          </a:p>
        </p:txBody>
      </p:sp>
      <p:sp>
        <p:nvSpPr>
          <p:cNvPr id="9" name="Card_9"/>
          <p:cNvSpPr/>
          <p:nvPr/>
        </p:nvSpPr>
        <p:spPr>
          <a:xfrm>
            <a:off x="8054666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⌨️ Power-User Navigation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Ctrl+K: Instant Command Palette for rapid keyboard logging.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E: Quick Expense Modal | I: Quick Income Modal | /: Ledger Search.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Esc: Dismiss active overlays with zero mouse interaction.</a:t>
            </a:r>
          </a:p>
        </p:txBody>
      </p:sp>
      <p:sp>
        <p:nvSpPr>
          <p:cNvPr id="10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3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MONOREPO &amp; SOFTWARE DESIGN</a:t>
            </a:r>
          </a:p>
          <a:p>
            <a:r>
              <a:rPr lang="en-US" sz="2600" b="1">
                <a:solidFill>
                  <a:srgbClr val="FFFFFF"/>
                </a:solidFill>
              </a:rPr>
              <a:t>Clean Monorepo Architecture &amp; Standards</a:t>
            </a:r>
          </a:p>
          <a:p>
            <a:r>
              <a:rPr lang="en-US" sz="1250">
                <a:solidFill>
                  <a:srgbClr val="94A3B8"/>
                </a:solidFill>
              </a:rPr>
              <a:t>Strict domain isolation, maintainability, and clean code enforcement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ENTERPRISE PATTERNS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3B82F6"/>
                </a:solidFill>
              </a:rPr>
              <a:t>📁 Monorepo Layout (Turborepo)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apps/api: Asynchronous FastAPI service divided into clean domain modules.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apps/api/core: Cross-cutting database engines, security, and middleware.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apps/api/domain: Feature slices (auth, transactions, budgets, analytics, recurring).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apps/web: Zero-framework client with layered services, components, and views.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📏 Strict &lt; 500 LOC Engineering Rule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Core Project Constraint: No file in the codebase may exceed 500 lines of code.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Forces high modularity, atomic responsibilities, and easy unit testability.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Proactive decomposition whenever a file approaches 350 lines.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4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RELATIONAL DATA MODELING</a:t>
            </a:r>
          </a:p>
          <a:p>
            <a:r>
              <a:rPr lang="en-US" sz="2600" b="1">
                <a:solidFill>
                  <a:srgbClr val="FFFFFF"/>
                </a:solidFill>
              </a:rPr>
              <a:t>Database Schema &amp; Entity Relationships</a:t>
            </a:r>
          </a:p>
          <a:p>
            <a:r>
              <a:rPr lang="en-US" sz="1250">
                <a:solidFill>
                  <a:srgbClr val="94A3B8"/>
                </a:solidFill>
              </a:rPr>
              <a:t>Normalized relational design with foreign keys and cascading integrity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RDBMS SCHEMA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🗄️ Core Relational Entities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users: (id, name, email, password_hash, currency, created_at)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transactions: (id, user_id, amount, type, description, category_id, date, notes)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categories: (id, user_id, name, type, icon, color, is_default)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payment_methods: (id, user_id, name, type)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budgets: (id, user_id, category_id, amount, month, year)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recurring_expenses: (id, user_id, name, amount, frequency, next_date)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🛡️ Referential Integrity &amp; Indexing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Foreign Keys with ON DELETE CASCADE: Clean deletion without orphaned records.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Indexed Queries: B-tree indexes on (user_id, transaction_date) for fast ranges.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SQLAlchemy Eager Loading: joinedload eliminates N+1 query bottlenecks.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5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BACKEND SERVICES &amp; API SECURITY</a:t>
            </a:r>
          </a:p>
          <a:p>
            <a:r>
              <a:rPr lang="en-US" sz="2600" b="1">
                <a:solidFill>
                  <a:srgbClr val="FFFFFF"/>
                </a:solidFill>
              </a:rPr>
              <a:t>FastAPI Implementation &amp; Defense-in-Depth</a:t>
            </a:r>
          </a:p>
          <a:p>
            <a:r>
              <a:rPr lang="en-US" sz="1250">
                <a:solidFill>
                  <a:srgbClr val="94A3B8"/>
                </a:solidFill>
              </a:rPr>
              <a:t>Asynchronous REST endpoints, cryptographic security, and token verification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REST API &amp; AUTH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🔐 Cryptographic Authentication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Passlib bcrypt: Passwords hashed with unique random salt rounds before storage.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Stateless JWT Tokens: Signed with HS256 algorithm, payload contains user ID.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FastAPI Dependency Injection: Depends(get_current_user_id) guards private routes.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Profile Management: Direct endpoints for name, currency, and password updates.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EF4444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EF4444"/>
                </a:solidFill>
              </a:rPr>
              <a:t>🛡️ API Defense &amp; Validation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SQL Injection Immunity: Parameterized queries generated via SQLAlchemy ORM.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Pydantic Validation: Enforces strict data types, positive amounts, and email formats.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Cross-User Isolation: Every database query enforces WHERE user_id == current_user.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6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CLIENT-SIDE ENGINEERING</a:t>
            </a:r>
          </a:p>
          <a:p>
            <a:r>
              <a:rPr lang="en-US" sz="2600" b="1">
                <a:solidFill>
                  <a:srgbClr val="FFFFFF"/>
                </a:solidFill>
              </a:rPr>
              <a:t>Semantic CSS &amp; Layered JavaScript Architecture</a:t>
            </a:r>
          </a:p>
          <a:p>
            <a:r>
              <a:rPr lang="en-US" sz="1250">
                <a:solidFill>
                  <a:srgbClr val="94A3B8"/>
                </a:solidFill>
              </a:rPr>
              <a:t>High-aesthetic glassmorphism and instant performance without virtual DOM overhead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NATIVE WEB STACK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3B82F6"/>
                </a:solidFill>
              </a:rPr>
              <a:t>🎨 Semantic CSS Layering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tokens.css: HSL design tokens, elevation shadows, border radii, and accent colors.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base.css: Grid layouts, sticky topbar with blur filter, and sidebar navigation.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components.css: Glassmorphic cards, responsive tables, badge pills, metric items.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Dynamic Theme Engine: Instant Dark/Light mode toggle persisted in localStorage.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📦 Modular JavaScript Layers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services/api.js: Centralized HTTP client with automatic Authorization header.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services/state.js: Single source of truth for user state, currency, and timezone.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views/: Decoupled controllers for Home, Dashboard, Ledger, Calendar, and Settings.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components/profile.js: Interactive floating account dropdown with edit modal.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7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CORE ENGINE SPOTLIGHT</a:t>
            </a:r>
          </a:p>
          <a:p>
            <a:r>
              <a:rPr lang="en-US" sz="2600" b="1">
                <a:solidFill>
                  <a:srgbClr val="FFFFFF"/>
                </a:solidFill>
              </a:rPr>
              <a:t>Smart Transaction Engine &amp; Keyword Detection</a:t>
            </a:r>
          </a:p>
          <a:p>
            <a:r>
              <a:rPr lang="en-US" sz="1250">
                <a:solidFill>
                  <a:srgbClr val="94A3B8"/>
                </a:solidFill>
              </a:rPr>
              <a:t>Real-time client-side keyword parsing for zero-friction transaction entry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INTELLIGENT UX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🧠 Contextual Keyword Mapping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Food Keywords: 'pizza', 'burger', 'chai', 'lunch', 'zomato' -&gt; Food &amp; Dining 🍔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Transport Keywords: 'uber', 'ola', 'auto', 'petrol', 'metro' -&gt; Transport 🚕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Shopping Keywords: 'amazon', 'blinkit', 'clothes', 'grocery' -&gt; Shopping 🛒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Bills Keywords: 'bijli', 'wifi', 'electricity', 'recharge' -&gt; Bills &amp; Utilities 💡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3B82F6"/>
                </a:solidFill>
              </a:rPr>
              <a:t>⚡ Streamlined Entry Rules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Optional Description: Expense logs with just Amount + Category if user is in a hurry.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Add Income Isolation: Description field hidden to prevent carryover of expense text.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Default UPI: Modal opens with UPI pre-selected, auto-fallback on submission.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Instant Undo Toast: Deleted transactions can be restored within a 5-second window.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8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LIVE DEMO • ZERO-FRICTION LOGGING</a:t>
            </a:r>
          </a:p>
          <a:p>
            <a:r>
              <a:rPr lang="en-US" sz="2600" b="1">
                <a:solidFill>
                  <a:srgbClr val="FFFFFF"/>
                </a:solidFill>
              </a:rPr>
              <a:t>Home Screen: 1-Tap Quick Record</a:t>
            </a:r>
          </a:p>
          <a:p>
            <a:r>
              <a:rPr lang="en-US" sz="1250">
                <a:solidFill>
                  <a:srgbClr val="94A3B8"/>
                </a:solidFill>
              </a:rPr>
              <a:t>Record everyday expenses in under 2 seconds right from the home screen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1-TAP LOGGING</a:t>
            </a:r>
          </a:p>
        </p:txBody>
      </p:sp>
      <p:sp>
        <p:nvSpPr>
          <p:cNvPr id="7" name="PicFrame_7"/>
          <p:cNvSpPr/>
          <p:nvPr/>
        </p:nvSpPr>
        <p:spPr>
          <a:xfrm>
            <a:off x="720000" y="1950000"/>
            <a:ext cx="5800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/>
          <a:lstStyle/>
          <a:p/>
        </p:txBody>
      </p:sp>
      <p:pic>
        <p:nvPicPr>
          <p:cNvPr id="8" name="Screenshot_8"/>
          <p:cNvPicPr>
            <a:picLocks noChangeAspect="1"/>
          </p:cNvPicPr>
          <p:nvPr/>
        </p:nvPicPr>
        <p:blipFill>
          <a:blip r:embed="rIdScreenshot"/>
          <a:stretch>
            <a:fillRect/>
          </a:stretch>
        </p:blipFill>
        <p:spPr>
          <a:xfrm>
            <a:off x="880000" y="2411384"/>
            <a:ext cx="5480000" cy="3297232"/>
          </a:xfrm>
          <a:prstGeom prst="rect">
            <a:avLst/>
          </a:prstGeom>
        </p:spPr>
      </p:pic>
      <p:sp>
        <p:nvSpPr>
          <p:cNvPr id="9" name="Card_9"/>
          <p:cNvSpPr/>
          <p:nvPr/>
        </p:nvSpPr>
        <p:spPr>
          <a:xfrm>
            <a:off x="6720000" y="1950000"/>
            <a:ext cx="4752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180000" tIns="180000" rIns="180000" bIns="180000" anchor="t"/>
          <a:lstStyle/>
          <a:p>
            <a:pPr algn="l"/>
            <a:r>
              <a:rPr lang="en-US" sz="1400" b="1">
                <a:solidFill>
                  <a:srgbClr val="10B981"/>
                </a:solidFill>
              </a:rPr>
              <a:t>💡 What You See Here (Beginner Guide)</a:t>
            </a:r>
          </a:p>
          <a:p>
            <a:pPr algn="l">
              <a:spcBef>
                <a:spcPts val="60"/>
              </a:spcBef>
            </a:pPr>
            <a:r>
              <a:rPr lang="en-US" sz="1000">
                <a:solidFill>
                  <a:srgbClr val="94A3B8"/>
                </a:solidFill>
              </a:rPr>
              <a:t>Designed for zero-effort habit tracking. Anyone can record daily expenses in under 2 seconds without navigating through complex sub-menus.</a:t>
            </a:r>
          </a:p>
          <a:p>
            <a:pPr sz="300"/>
            <a:endParaRPr sz="300"/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10B981"/>
              </a:buClr>
            </a:pPr>
            <a:r>
              <a:rPr lang="en-US" sz="950">
                <a:solidFill>
                  <a:srgbClr val="E2E8F0"/>
                </a:solidFill>
              </a:rPr>
              <a:t>🟢 Big Green (+) Action: Centered for instant thumb reach; opens the entry popup in one single tap.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10B981"/>
              </a:buClr>
            </a:pPr>
            <a:r>
              <a:rPr lang="en-US" sz="950">
                <a:solidFill>
                  <a:srgbClr val="E2E8F0"/>
                </a:solidFill>
              </a:rPr>
              <a:t>💰 Live Balance Ticker: See your available balance (₹4,383) and today's total spending (₹3,851) at all times.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10B981"/>
              </a:buClr>
            </a:pPr>
            <a:r>
              <a:rPr lang="en-US" sz="950">
                <a:solidFill>
                  <a:srgbClr val="E2E8F0"/>
                </a:solidFill>
              </a:rPr>
              <a:t>⚡ Quick-Category Chips: One tap on Food (₹930) or Shopping (₹1,214) pre-fills your most frequent expenses.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10B981"/>
              </a:buClr>
            </a:pPr>
            <a:r>
              <a:rPr lang="en-US" sz="950">
                <a:solidFill>
                  <a:srgbClr val="E2E8F0"/>
                </a:solidFill>
              </a:rPr>
              <a:t>⌨️ Smart Natural Input (Ctrl+K): Type 'Add ₹250 for dinner' and AI detects the category automatically.</a:t>
            </a:r>
          </a:p>
          <a:p>
            <a:pPr algn="l">
              <a:spcBef>
                <a:spcPts val="80"/>
              </a:spcBef>
            </a:pPr>
            <a:r>
              <a:rPr lang="en-US" sz="900" b="1">
                <a:solidFill>
                  <a:srgbClr val="F59E0B"/>
                </a:solidFill>
              </a:rPr>
              <a:t>✨ Beginner Benefit: </a:t>
            </a:r>
            <a:r>
              <a:rPr lang="en-US" sz="900">
                <a:solidFill>
                  <a:srgbClr val="FEF08A"/>
                </a:solidFill>
              </a:rPr>
              <a:t>No accounting knowledge needed. It works just like sending a quick chat message.</a:t>
            </a:r>
          </a:p>
        </p:txBody>
      </p:sp>
      <p:sp>
        <p:nvSpPr>
          <p:cNvPr id="10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9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LIVE DEMO • REAL-TIME CASHFLOW</a:t>
            </a:r>
          </a:p>
          <a:p>
            <a:r>
              <a:rPr lang="en-US" sz="2600" b="1">
                <a:solidFill>
                  <a:srgbClr val="FFFFFF"/>
                </a:solidFill>
              </a:rPr>
              <a:t>Interactive Dashboard &amp; Visual Analytics</a:t>
            </a:r>
          </a:p>
          <a:p>
            <a:r>
              <a:rPr lang="en-US" sz="1250">
                <a:solidFill>
                  <a:srgbClr val="94A3B8"/>
                </a:solidFill>
              </a:rPr>
              <a:t>Clear charts and essential metrics translating numbers into visual health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CASHFLOW ANALYTICS</a:t>
            </a:r>
          </a:p>
        </p:txBody>
      </p:sp>
      <p:sp>
        <p:nvSpPr>
          <p:cNvPr id="7" name="PicFrame_7"/>
          <p:cNvSpPr/>
          <p:nvPr/>
        </p:nvSpPr>
        <p:spPr>
          <a:xfrm>
            <a:off x="720000" y="1950000"/>
            <a:ext cx="5800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8" name="Screenshot_8"/>
          <p:cNvPicPr>
            <a:picLocks noChangeAspect="1"/>
          </p:cNvPicPr>
          <p:nvPr/>
        </p:nvPicPr>
        <p:blipFill>
          <a:blip r:embed="rIdScreenshot"/>
          <a:stretch>
            <a:fillRect/>
          </a:stretch>
        </p:blipFill>
        <p:spPr>
          <a:xfrm>
            <a:off x="880000" y="2342132"/>
            <a:ext cx="5480000" cy="3435736"/>
          </a:xfrm>
          <a:prstGeom prst="rect">
            <a:avLst/>
          </a:prstGeom>
        </p:spPr>
      </p:pic>
      <p:sp>
        <p:nvSpPr>
          <p:cNvPr id="9" name="Card_9"/>
          <p:cNvSpPr/>
          <p:nvPr/>
        </p:nvSpPr>
        <p:spPr>
          <a:xfrm>
            <a:off x="6720000" y="1950000"/>
            <a:ext cx="4752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 vert="horz" lIns="180000" tIns="180000" rIns="180000" bIns="180000" anchor="t"/>
          <a:lstStyle/>
          <a:p>
            <a:pPr algn="l"/>
            <a:r>
              <a:rPr lang="en-US" sz="1400" b="1">
                <a:solidFill>
                  <a:srgbClr val="3B82F6"/>
                </a:solidFill>
              </a:rPr>
              <a:t>💡 What You See Here (Beginner Guide)</a:t>
            </a:r>
          </a:p>
          <a:p>
            <a:pPr algn="l">
              <a:spcBef>
                <a:spcPts val="60"/>
              </a:spcBef>
            </a:pPr>
            <a:r>
              <a:rPr lang="en-US" sz="1000">
                <a:solidFill>
                  <a:srgbClr val="94A3B8"/>
                </a:solidFill>
              </a:rPr>
              <a:t>Translates complex numbers into simple, colorful charts so beginners instantly know where their money went and how much they saved.</a:t>
            </a:r>
          </a:p>
          <a:p>
            <a:pPr sz="300"/>
            <a:endParaRPr sz="300"/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3B82F6"/>
              </a:buClr>
            </a:pPr>
            <a:r>
              <a:rPr lang="en-US" sz="950">
                <a:solidFill>
                  <a:srgbClr val="E2E8F0"/>
                </a:solidFill>
              </a:rPr>
              <a:t>📊 4 Core Summary Cards: Clear numbers for Total Balance, Monthly Income, Monthly Expenses, and Savings.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3B82F6"/>
              </a:buClr>
            </a:pPr>
            <a:r>
              <a:rPr lang="en-US" sz="950">
                <a:solidFill>
                  <a:srgbClr val="E2E8F0"/>
                </a:solidFill>
              </a:rPr>
              <a:t>📈 Savings Rate (53.2%): Tells you in green if you are saving enough money this month.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3B82F6"/>
              </a:buClr>
            </a:pPr>
            <a:r>
              <a:rPr lang="en-US" sz="950">
                <a:solidFill>
                  <a:srgbClr val="E2E8F0"/>
                </a:solidFill>
              </a:rPr>
              <a:t>📉 Spending Overview Bar Chart: Compares cash coming in vs going out across months.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3B82F6"/>
              </a:buClr>
            </a:pPr>
            <a:r>
              <a:rPr lang="en-US" sz="950">
                <a:solidFill>
                  <a:srgbClr val="E2E8F0"/>
                </a:solidFill>
              </a:rPr>
              <a:t>🍩 Category Donut Chart: Shows exact percentage spent on Food, Transport, Shopping, and Health.</a:t>
            </a:r>
          </a:p>
          <a:p>
            <a:pPr algn="l">
              <a:spcBef>
                <a:spcPts val="80"/>
              </a:spcBef>
            </a:pPr>
            <a:r>
              <a:rPr lang="en-US" sz="900" b="1">
                <a:solidFill>
                  <a:srgbClr val="F59E0B"/>
                </a:solidFill>
              </a:rPr>
              <a:t>✨ Beginner Benefit: </a:t>
            </a:r>
            <a:r>
              <a:rPr lang="en-US" sz="900">
                <a:solidFill>
                  <a:srgbClr val="FEF08A"/>
                </a:solidFill>
              </a:rPr>
              <a:t>You understand your complete monthly financial health in just 5 seconds.</a:t>
            </a:r>
          </a:p>
        </p:txBody>
      </p:sp>
      <p:sp>
        <p:nvSpPr>
          <p:cNvPr id="10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10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LIVE DEMO • SEARCHABLE LEDGER</a:t>
            </a:r>
          </a:p>
          <a:p>
            <a:r>
              <a:rPr lang="en-US" sz="2600" b="1">
                <a:solidFill>
                  <a:srgbClr val="FFFFFF"/>
                </a:solidFill>
              </a:rPr>
              <a:t>Smart Ledger: Filterable Money Diary</a:t>
            </a:r>
          </a:p>
          <a:p>
            <a:r>
              <a:rPr lang="en-US" sz="1250">
                <a:solidFill>
                  <a:srgbClr val="94A3B8"/>
                </a:solidFill>
              </a:rPr>
              <a:t>An organized digital passbook with color badges, instant search, and CSV export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LEDGER &amp; FILTERS</a:t>
            </a:r>
          </a:p>
        </p:txBody>
      </p:sp>
      <p:sp>
        <p:nvSpPr>
          <p:cNvPr id="7" name="PicFrame_7"/>
          <p:cNvSpPr/>
          <p:nvPr/>
        </p:nvSpPr>
        <p:spPr>
          <a:xfrm>
            <a:off x="720000" y="1950000"/>
            <a:ext cx="5800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/>
          <a:lstStyle/>
          <a:p/>
        </p:txBody>
      </p:sp>
      <p:pic>
        <p:nvPicPr>
          <p:cNvPr id="8" name="Screenshot_8"/>
          <p:cNvPicPr>
            <a:picLocks noChangeAspect="1"/>
          </p:cNvPicPr>
          <p:nvPr/>
        </p:nvPicPr>
        <p:blipFill>
          <a:blip r:embed="rIdScreenshot"/>
          <a:stretch>
            <a:fillRect/>
          </a:stretch>
        </p:blipFill>
        <p:spPr>
          <a:xfrm>
            <a:off x="880000" y="2409398"/>
            <a:ext cx="5480000" cy="3301204"/>
          </a:xfrm>
          <a:prstGeom prst="rect">
            <a:avLst/>
          </a:prstGeom>
        </p:spPr>
      </p:pic>
      <p:sp>
        <p:nvSpPr>
          <p:cNvPr id="9" name="Card_9"/>
          <p:cNvSpPr/>
          <p:nvPr/>
        </p:nvSpPr>
        <p:spPr>
          <a:xfrm>
            <a:off x="6720000" y="1950000"/>
            <a:ext cx="4752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 vert="horz" lIns="180000" tIns="180000" rIns="180000" bIns="180000" anchor="t"/>
          <a:lstStyle/>
          <a:p>
            <a:pPr algn="l"/>
            <a:r>
              <a:rPr lang="en-US" sz="1400" b="1">
                <a:solidFill>
                  <a:srgbClr val="8B5CF6"/>
                </a:solidFill>
              </a:rPr>
              <a:t>💡 What You See Here (Beginner Guide)</a:t>
            </a:r>
          </a:p>
          <a:p>
            <a:pPr algn="l">
              <a:spcBef>
                <a:spcPts val="60"/>
              </a:spcBef>
            </a:pPr>
            <a:r>
              <a:rPr lang="en-US" sz="1000">
                <a:solidFill>
                  <a:srgbClr val="94A3B8"/>
                </a:solidFill>
              </a:rPr>
              <a:t>An organized digital passbook where every rupee is tracked with clear color codes, instant search, and export capabilities.</a:t>
            </a:r>
          </a:p>
          <a:p>
            <a:pPr sz="300"/>
            <a:endParaRPr sz="300"/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8B5CF6"/>
              </a:buClr>
            </a:pPr>
            <a:r>
              <a:rPr lang="en-US" sz="950">
                <a:solidFill>
                  <a:srgbClr val="E2E8F0"/>
                </a:solidFill>
              </a:rPr>
              <a:t>🏷️ Color-Coded Badges: Green (+₹7,000) for Income and Red (-₹890) for Expenses — impossible to confuse.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8B5CF6"/>
              </a:buClr>
            </a:pPr>
            <a:r>
              <a:rPr lang="en-US" sz="950">
                <a:solidFill>
                  <a:srgbClr val="E2E8F0"/>
                </a:solidFill>
              </a:rPr>
              <a:t>🔍 Instant Keyword Search: Find past spends like 'gym', 'movie', or 'groceries' in milliseconds.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8B5CF6"/>
              </a:buClr>
            </a:pPr>
            <a:r>
              <a:rPr lang="en-US" sz="950">
                <a:solidFill>
                  <a:srgbClr val="E2E8F0"/>
                </a:solidFill>
              </a:rPr>
              <a:t>⚡ Category &amp; Mode Filters: Filter by Payment Method (UPI, Cash) or Category with 1 click.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8B5CF6"/>
              </a:buClr>
            </a:pPr>
            <a:r>
              <a:rPr lang="en-US" sz="950">
                <a:solidFill>
                  <a:srgbClr val="E2E8F0"/>
                </a:solidFill>
              </a:rPr>
              <a:t>📥 One-Click CSV Export: Download your full transaction history to Excel for personal records or taxes.</a:t>
            </a:r>
          </a:p>
          <a:p>
            <a:pPr algn="l">
              <a:spcBef>
                <a:spcPts val="80"/>
              </a:spcBef>
            </a:pPr>
            <a:r>
              <a:rPr lang="en-US" sz="900" b="1">
                <a:solidFill>
                  <a:srgbClr val="F59E0B"/>
                </a:solidFill>
              </a:rPr>
              <a:t>✨ Beginner Benefit: </a:t>
            </a:r>
            <a:r>
              <a:rPr lang="en-US" sz="900">
                <a:solidFill>
                  <a:srgbClr val="FEF08A"/>
                </a:solidFill>
              </a:rPr>
              <a:t>Never wonder where your cash disappeared at the end of the month.</a:t>
            </a:r>
          </a:p>
        </p:txBody>
      </p:sp>
      <p:sp>
        <p:nvSpPr>
          <p:cNvPr id="10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11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LIVE DEMO • ACTIVE SPENDING CAPS</a:t>
            </a:r>
          </a:p>
          <a:p>
            <a:r>
              <a:rPr lang="en-US" sz="2600" b="1">
                <a:solidFill>
                  <a:srgbClr val="FFFFFF"/>
                </a:solidFill>
              </a:rPr>
              <a:t>Budget Guardrails: Avoid Month-End Deficit</a:t>
            </a:r>
          </a:p>
          <a:p>
            <a:r>
              <a:rPr lang="en-US" sz="1250">
                <a:solidFill>
                  <a:srgbClr val="94A3B8"/>
                </a:solidFill>
              </a:rPr>
              <a:t>Visual progress bars and live remaining balances to prevent overspending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BUDGET GUARDRAILS</a:t>
            </a:r>
          </a:p>
        </p:txBody>
      </p:sp>
      <p:sp>
        <p:nvSpPr>
          <p:cNvPr id="7" name="PicFrame_7"/>
          <p:cNvSpPr/>
          <p:nvPr/>
        </p:nvSpPr>
        <p:spPr>
          <a:xfrm>
            <a:off x="720000" y="1950000"/>
            <a:ext cx="5800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F59E0B"/>
            </a:solidFill>
          </a:ln>
        </p:spPr>
        <p:txBody>
          <a:bodyPr/>
          <a:lstStyle/>
          <a:p/>
        </p:txBody>
      </p:sp>
      <p:pic>
        <p:nvPicPr>
          <p:cNvPr id="8" name="Screenshot_8"/>
          <p:cNvPicPr>
            <a:picLocks noChangeAspect="1"/>
          </p:cNvPicPr>
          <p:nvPr/>
        </p:nvPicPr>
        <p:blipFill>
          <a:blip r:embed="rIdScreenshot"/>
          <a:stretch>
            <a:fillRect/>
          </a:stretch>
        </p:blipFill>
        <p:spPr>
          <a:xfrm>
            <a:off x="880000" y="2542835"/>
            <a:ext cx="5480000" cy="3034330"/>
          </a:xfrm>
          <a:prstGeom prst="rect">
            <a:avLst/>
          </a:prstGeom>
        </p:spPr>
      </p:pic>
      <p:sp>
        <p:nvSpPr>
          <p:cNvPr id="9" name="Card_9"/>
          <p:cNvSpPr/>
          <p:nvPr/>
        </p:nvSpPr>
        <p:spPr>
          <a:xfrm>
            <a:off x="6720000" y="1950000"/>
            <a:ext cx="4752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F59E0B"/>
            </a:solidFill>
          </a:ln>
        </p:spPr>
        <p:txBody>
          <a:bodyPr vert="horz" lIns="180000" tIns="180000" rIns="180000" bIns="180000" anchor="t"/>
          <a:lstStyle/>
          <a:p>
            <a:pPr algn="l"/>
            <a:r>
              <a:rPr lang="en-US" sz="1400" b="1">
                <a:solidFill>
                  <a:srgbClr val="F59E0B"/>
                </a:solidFill>
              </a:rPr>
              <a:t>💡 What You See Here (Beginner Guide)</a:t>
            </a:r>
          </a:p>
          <a:p>
            <a:pPr algn="l">
              <a:spcBef>
                <a:spcPts val="60"/>
              </a:spcBef>
            </a:pPr>
            <a:r>
              <a:rPr lang="en-US" sz="1000">
                <a:solidFill>
                  <a:srgbClr val="94A3B8"/>
                </a:solidFill>
              </a:rPr>
              <a:t>Set monthly spending limits for categories like Food and Shopping. Visual progress meters guide you before you overspend.</a:t>
            </a:r>
          </a:p>
          <a:p>
            <a:pPr sz="300"/>
            <a:endParaRPr sz="300"/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F59E0B"/>
              </a:buClr>
            </a:pPr>
            <a:r>
              <a:rPr lang="en-US" sz="950">
                <a:solidFill>
                  <a:srgbClr val="E2E8F0"/>
                </a:solidFill>
              </a:rPr>
              <a:t>📊 Visual Progress Meters: Colored bars show percentage consumed (e.g., Shopping: 60.7%, Food: 46.5%).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F59E0B"/>
              </a:buClr>
            </a:pPr>
            <a:r>
              <a:rPr lang="en-US" sz="950">
                <a:solidFill>
                  <a:srgbClr val="E2E8F0"/>
                </a:solidFill>
              </a:rPr>
              <a:t>💵 Live Remaining Balances: Exact cash left displayed upfront (e.g. '₹1,070 remaining' for food).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F59E0B"/>
              </a:buClr>
            </a:pPr>
            <a:r>
              <a:rPr lang="en-US" sz="950">
                <a:solidFill>
                  <a:srgbClr val="E2E8F0"/>
                </a:solidFill>
              </a:rPr>
              <a:t>🛡️ Safe vs Danger Status: Clear 'NORMAL' green badge alerts you before a category limit is exceeded.</a:t>
            </a:r>
          </a:p>
          <a:p>
            <a:pPr algn="l" marL="200000" indent="-200000">
              <a:spcBef>
                <a:spcPts val="50"/>
              </a:spcBef>
              <a:buFont typeface="Arial"/>
              <a:buChar char="₹"/>
              <a:buClr>
                <a:srgbClr val="F59E0B"/>
              </a:buClr>
            </a:pPr>
            <a:r>
              <a:rPr lang="en-US" sz="950">
                <a:solidFill>
                  <a:srgbClr val="E2E8F0"/>
                </a:solidFill>
              </a:rPr>
              <a:t>⚙️ Flexible Custom Limits: Tap '+ Set New Budget' anytime to adjust limits as your lifestyle changes.</a:t>
            </a:r>
          </a:p>
          <a:p>
            <a:pPr algn="l">
              <a:spcBef>
                <a:spcPts val="80"/>
              </a:spcBef>
            </a:pPr>
            <a:r>
              <a:rPr lang="en-US" sz="900" b="1">
                <a:solidFill>
                  <a:srgbClr val="F59E0B"/>
                </a:solidFill>
              </a:rPr>
              <a:t>✨ Beginner Benefit: </a:t>
            </a:r>
            <a:r>
              <a:rPr lang="en-US" sz="900">
                <a:solidFill>
                  <a:srgbClr val="FEF08A"/>
                </a:solidFill>
              </a:rPr>
              <a:t>Acts like a financial guardian, preventing impulse overspending before it happens.</a:t>
            </a:r>
          </a:p>
        </p:txBody>
      </p:sp>
      <p:sp>
        <p:nvSpPr>
          <p:cNvPr id="10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12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DATA VISUALIZATION &amp; TIMEZONE SYNC</a:t>
            </a:r>
          </a:p>
          <a:p>
            <a:r>
              <a:rPr lang="en-US" sz="2600" b="1">
                <a:solidFill>
                  <a:srgbClr val="FFFFFF"/>
                </a:solidFill>
              </a:rPr>
              <a:t>Visual Intelligence &amp; Live IST Clock</a:t>
            </a:r>
          </a:p>
          <a:p>
            <a:r>
              <a:rPr lang="en-US" sz="1250">
                <a:solidFill>
                  <a:srgbClr val="94A3B8"/>
                </a:solidFill>
              </a:rPr>
              <a:t>Translating raw ledger data into actionable personal financial insights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CHART.JS ENGINE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📊 Interactive Chart.js Dashboards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Monthly Trend Line Chart: 6-month historical cashflow comparing Inflow vs Outflow.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Category Breakdown Doughnut: Visual percentage distribution of monthly expenses.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Live Metric Cards: Net Balance, Monthly Income, Monthly Burn, and Savings Rate.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Formula: Savings Rate = ((Monthly Income - Monthly Expense) / Monthly Income) * 100.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🕒 Live IST Timezone Synchronization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Indian Standard Time (IST) Clock: Live ticker on dashboard updated every 10 seconds.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Contextual Greetings: Good morning (🌅), afternoon (☀️), evening (🌆), or night (🌙).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Timezone-Safe Date Utility: Uses Intl.DateTimeFormat with Asia/Kolkata timezone.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13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FINANCIAL PLANNING &amp; AUTOMATION</a:t>
            </a:r>
          </a:p>
          <a:p>
            <a:r>
              <a:rPr lang="en-US" sz="2600" b="1">
                <a:solidFill>
                  <a:srgbClr val="FFFFFF"/>
                </a:solidFill>
              </a:rPr>
              <a:t>Budgets, Recurring Bills &amp; Interactive Calendar</a:t>
            </a:r>
          </a:p>
          <a:p>
            <a:r>
              <a:rPr lang="en-US" sz="1250">
                <a:solidFill>
                  <a:srgbClr val="94A3B8"/>
                </a:solidFill>
              </a:rPr>
              <a:t>Active spending guardrails, automated renewals, and date-wise ledger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ACTIVE CONTROLS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F59E0B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F59E0B"/>
                </a:solidFill>
              </a:rPr>
              <a:t>🎯 Category Spend Caps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Set monthly spending limits for high-burn categories (e.g. Dining ₹5,000).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Progress bar visual status: Normal (Green) -&gt; Warning (Amber) -&gt; Exceeded (Red).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Live percentage calculation prevents surprise month-end overspending.</a:t>
            </a:r>
          </a:p>
        </p:txBody>
      </p:sp>
      <p:sp>
        <p:nvSpPr>
          <p:cNvPr id="8" name="Card_8"/>
          <p:cNvSpPr/>
          <p:nvPr/>
        </p:nvSpPr>
        <p:spPr>
          <a:xfrm>
            <a:off x="4387333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3B82F6"/>
                </a:solidFill>
              </a:rPr>
              <a:t>🔄 Automated Recurring Subscriptions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Tracks recurring liabilities (Netflix, Gym, Rent, Internet).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Automated endpoint /api/recurring/process-due posts due bills on cycle dates.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Maintains active subscriptions list with next due dates.</a:t>
            </a:r>
          </a:p>
        </p:txBody>
      </p:sp>
      <p:sp>
        <p:nvSpPr>
          <p:cNvPr id="9" name="Card_9"/>
          <p:cNvSpPr/>
          <p:nvPr/>
        </p:nvSpPr>
        <p:spPr>
          <a:xfrm>
            <a:off x="8054666" y="1950000"/>
            <a:ext cx="3417333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📅 Day-by-Day Interactive Calendar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Monthly calendar grid aggregating daily expenditure totals on each date cell.</a:t>
            </a:r>
          </a:p>
          <a:p>
            <a:pPr algn="l" marL="220000" indent="-220000">
              <a:buFont typeface="Arial"/>
              <a:buChar char="₹"/>
            </a:pPr>
            <a:r>
              <a:rPr lang="en-US" sz="1150">
                <a:solidFill>
                  <a:srgbClr val="E2E8F0"/>
                </a:solidFill>
              </a:rPr>
              <a:t>Click any calendar cell to filter and review that specific day's financial activity.</a:t>
            </a:r>
          </a:p>
        </p:txBody>
      </p:sp>
      <p:sp>
        <p:nvSpPr>
          <p:cNvPr id="10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14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SYSTEM VALIDATION &amp; BENCHMARKS</a:t>
            </a:r>
          </a:p>
          <a:p>
            <a:r>
              <a:rPr lang="en-US" sz="2600" b="1">
                <a:solidFill>
                  <a:srgbClr val="FFFFFF"/>
                </a:solidFill>
              </a:rPr>
              <a:t>Performance Metrics &amp; Testing Standards</a:t>
            </a:r>
          </a:p>
          <a:p>
            <a:r>
              <a:rPr lang="en-US" sz="1250">
                <a:solidFill>
                  <a:srgbClr val="94A3B8"/>
                </a:solidFill>
              </a:rPr>
              <a:t>Rigorous performance profiling and test coverage across the full stack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QA &amp; BENCHMARKS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🚀 Performance Profiling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Sub-50ms API Latency: FastAPI ASGI server handles high concurrent throughput.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Client Load Time: &lt; 60ms initial page load due to zero framework bundle overhead.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Server-Side Pagination: Transactions endpoint limits payloads (50 items/page).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Database Queries: EXPLAIN QUERY PLAN confirms index utilization on transaction queries.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3B82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3B82F6"/>
                </a:solidFill>
              </a:rPr>
              <a:t>🧪 Test Coverage &amp; Verification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Authentication Edge Cases: Verified rejection of expired and tampered JWT tokens.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Data Boundary Tests: Verified handling of zero amounts, empty notes, and long strings.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Cross-Browser Compatibility: Validated in Chromium, Firefox, and Safari rendering engines.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15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/>
          </a:solidFill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/>
        </p:txBody>
      </p:sp>
      <p:sp>
        <p:nvSpPr>
          <p:cNvPr id="4" name="Header"/>
          <p:cNvSpPr/>
          <p:nvPr/>
        </p:nvSpPr>
        <p:spPr>
          <a:xfrm>
            <a:off x="720000" y="460000"/>
            <a:ext cx="8800000" cy="1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/>
          <a:p>
            <a:r>
              <a:rPr lang="en-US" sz="1050" b="1">
                <a:solidFill>
                  <a:srgbClr val="F59E0B"/>
                </a:solidFill>
              </a:rPr>
              <a:t>₹ SUMMARY &amp; FUTURE SCOPE</a:t>
            </a:r>
          </a:p>
          <a:p>
            <a:r>
              <a:rPr lang="en-US" sz="2600" b="1">
                <a:solidFill>
                  <a:srgbClr val="FFFFFF"/>
                </a:solidFill>
              </a:rPr>
              <a:t>Conclusion, Learnings &amp; Commercial Roadmap</a:t>
            </a:r>
          </a:p>
          <a:p>
            <a:r>
              <a:rPr lang="en-US" sz="1250">
                <a:solidFill>
                  <a:srgbClr val="94A3B8"/>
                </a:solidFill>
              </a:rPr>
              <a:t>Reflection on engineering achievements and commercial expansion vision</a:t>
            </a:r>
          </a:p>
        </p:txBody>
      </p:sp>
      <p:sp>
        <p:nvSpPr>
          <p:cNvPr id="5" name="RupeeCoin"/>
          <p:cNvSpPr/>
          <p:nvPr/>
        </p:nvSpPr>
        <p:spPr>
          <a:xfrm>
            <a:off x="9120000" y="520000"/>
            <a:ext cx="420000" cy="420000"/>
          </a:xfrm>
          <a:prstGeom prst="ellipse">
            <a:avLst/>
          </a:prstGeom>
          <a:solidFill>
            <a:srgbClr val="F59E0B"/>
          </a:solidFill>
          <a:ln w="20000">
            <a:solidFill>
              <a:srgbClr val="FEF08A"/>
            </a:solidFill>
          </a:ln>
        </p:spPr>
        <p:txBody>
          <a:bodyPr vert="horz" lIns="0" tIns="0" rIns="0" bIns="0" anchor="ctr"/>
          <a:lstStyle/>
          <a:p>
            <a:pPr algn="ctr"/>
            <a:r>
              <a:rPr lang="en-US" sz="1400" b="1">
                <a:solidFill>
                  <a:srgbClr val="451A03"/>
                </a:solidFill>
              </a:rPr>
              <a:t>₹</a:t>
            </a:r>
          </a:p>
        </p:txBody>
      </p:sp>
      <p:sp>
        <p:nvSpPr>
          <p:cNvPr id="6" name="Badge"/>
          <p:cNvSpPr/>
          <p:nvPr/>
        </p:nvSpPr>
        <p:spPr>
          <a:xfrm>
            <a:off x="9650000" y="520000"/>
            <a:ext cx="1820000" cy="42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6000">
            <a:solidFill>
              <a:srgbClr val="F59E0B"/>
            </a:solidFill>
          </a:ln>
        </p:spPr>
        <p:txBody>
          <a:bodyPr vert="horz" lIns="60000" tIns="60000" rIns="60000" bIns="60000" anchor="ctr"/>
          <a:lstStyle/>
          <a:p>
            <a:pPr algn="ctr"/>
            <a:r>
              <a:rPr lang="en-US" sz="950" b="1">
                <a:solidFill>
                  <a:srgbClr val="F59E0B"/>
                </a:solidFill>
              </a:rPr>
              <a:t>₹ PROJECT DEFENSE</a:t>
            </a:r>
          </a:p>
        </p:txBody>
      </p:sp>
      <p:sp>
        <p:nvSpPr>
          <p:cNvPr id="7" name="Card_7"/>
          <p:cNvSpPr/>
          <p:nvPr/>
        </p:nvSpPr>
        <p:spPr>
          <a:xfrm>
            <a:off x="720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10B981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10B981"/>
                </a:solidFill>
              </a:rPr>
              <a:t>🎓 Academic &amp; Engineering Learnings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Full-Stack Mastery: Seamless coordination between FastAPI, SQLAlchemy, and DOM APIs.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Security Best Practices: Implemented real-world token-based auth, hashing, and defense.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Clean Code Discipline: Successfully kept entire monorepo compliant with &lt; 500 LOC rule.</a:t>
            </a:r>
          </a:p>
        </p:txBody>
      </p:sp>
      <p:sp>
        <p:nvSpPr>
          <p:cNvPr id="8" name="Card_8"/>
          <p:cNvSpPr/>
          <p:nvPr/>
        </p:nvSpPr>
        <p:spPr>
          <a:xfrm>
            <a:off x="6221000" y="1950000"/>
            <a:ext cx="5251000" cy="422000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22000">
            <a:solidFill>
              <a:srgbClr val="8B5CF6"/>
            </a:solidFill>
          </a:ln>
        </p:spPr>
        <p:txBody>
          <a:bodyPr vert="horz" lIns="200000" tIns="200000" rIns="200000" bIns="200000" anchor="t"/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🔮 Future Scope &amp; Commercial Expansion</a:t>
            </a:r>
          </a:p>
          <a:p>
            <a:pPr sz="500"/>
            <a:endParaRPr sz="500"/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AI Receipt OCR: Camera bill scanning with automatic optical character recognition.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Android Background SMS Sync: Auto-capturing banking transaction SMS alerts.</a:t>
            </a:r>
          </a:p>
          <a:p>
            <a:pPr algn="l" marL="220000" indent="-220000">
              <a:buFont typeface="Arial"/>
              <a:buChar char="₹"/>
            </a:pPr>
            <a:r>
              <a:rPr lang="en-US" sz="1250">
                <a:solidFill>
                  <a:srgbClr val="E2E8F0"/>
                </a:solidFill>
              </a:rPr>
              <a:t>Splitwise Group Splitting: Automated shared expense calculation with roommates.</a:t>
            </a:r>
          </a:p>
        </p:txBody>
      </p:sp>
      <p:sp>
        <p:nvSpPr>
          <p:cNvPr id="9" name="Footer"/>
          <p:cNvSpPr/>
          <p:nvPr/>
        </p:nvSpPr>
        <p:spPr>
          <a:xfrm>
            <a:off x="720000" y="6350000"/>
            <a:ext cx="10752000" cy="3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/>
          <a:lstStyle/>
          <a:p>
            <a:r>
              <a:rPr lang="en-US" sz="950">
                <a:solidFill>
                  <a:srgbClr val="64748B"/>
                </a:solidFill>
              </a:rPr>
              <a:t>Expenso • Smart Indian Finance • Slide 16 of 16 • ₹ ₹ ₹</a:t>
            </a:r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ExpensoRupeeTheme">
  <a:themeElements>
    <a:clrScheme name="RupeeColors">
      <a:dk1>
        <a:srgbClr val="0B1328"/>
      </a:dk1>
      <a:lt1>
        <a:srgbClr val="FFFFFF"/>
      </a:lt1>
      <a:dk2>
        <a:srgbClr val="141E33"/>
      </a:dk2>
      <a:lt2>
        <a:srgbClr val="F8FAFC"/>
      </a:lt2>
      <a:accent1>
        <a:srgbClr val="F59E0B"/>
      </a:accent1>
      <a:accent2>
        <a:srgbClr val="10B981"/>
      </a:accent2>
      <a:accent3>
        <a:srgbClr val="3B82F6"/>
      </a:accent3>
      <a:accent4>
        <a:srgbClr val="8B5CF6"/>
      </a:accent4>
      <a:accent5>
        <a:srgbClr val="EF4444"/>
      </a:accent5>
      <a:accent6>
        <a:srgbClr val="FBBF24"/>
      </a:accent6>
      <a:hlink>
        <a:srgbClr val="F59E0B"/>
      </a:hlink>
      <a:folHlink>
        <a:srgbClr val="10B981"/>
      </a:folHlink>
    </a:clrScheme>
    <a:fontScheme name="RupeeFont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RupeeFormat">
      <a:fillStyleLst/>
      <a:lnStyleLst/>
      <a:effectStyleLst/>
      <a:bgFillStyleLst/>
    </a:fmtScheme>
  </a:themeElements>
</a:theme>
</file>