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 type="custom"/>
  <p:notesSz cx="6858000" cy="9144000"/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
</Relationships>
</file>

<file path=ppt/slideLayouts/_rels/slideLayout1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Logo" Type="http://schemas.openxmlformats.org/officeDocument/2006/relationships/image" Target="../media/image1.png"/>
</Relationships>
</file>

<file path=ppt/slides/_rels/slide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Logo" Type="http://schemas.openxmlformats.org/officeDocument/2006/relationships/image" Target="../media/image1.png"/>
</Relationships>
</file>

<file path=ppt/slides/_rels/slide3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Logo" Type="http://schemas.openxmlformats.org/officeDocument/2006/relationships/image" Target="../media/image1.png"/>
</Relationships>
</file>

<file path=ppt/slides/_rels/slide4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Logo" Type="http://schemas.openxmlformats.org/officeDocument/2006/relationships/image" Target="../media/image1.png"/>
</Relationships>
</file>

<file path=ppt/slides/_rels/slide5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Logo" Type="http://schemas.openxmlformats.org/officeDocument/2006/relationships/image" Target="../media/image1.png"/>
</Relationships>
</file>

<file path=ppt/slides/_rels/slide6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Logo" Type="http://schemas.openxmlformats.org/officeDocument/2006/relationships/image" Target="../media/image1.png"/>
</Relationships>
</file>

<file path=ppt/slides/_rels/slide7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Logo" Type="http://schemas.openxmlformats.org/officeDocument/2006/relationships/image" Target="../media/image1.png"/>
</Relationships>
</file>

<file path=ppt/slides/_rels/slide8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Logo" Type="http://schemas.openxmlformats.org/officeDocument/2006/relationships/image" Target="../media/image1.png"/>
</Relationships>
</file>

<file path=ppt/slides/_rels/slide9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Logo" Type="http://schemas.openxmlformats.org/officeDocument/2006/relationships/image" Target="../media/image1.png"/>
  <Relationship Id="rIdScreenshot" Type="http://schemas.openxmlformats.org/officeDocument/2006/relationships/image" Target="../media/quick_record_ui.png"/>
</Relationships>
</file>

<file path=ppt/slides/_rels/slide10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Logo" Type="http://schemas.openxmlformats.org/officeDocument/2006/relationships/image" Target="../media/image1.png"/>
  <Relationship Id="rIdScreenshot" Type="http://schemas.openxmlformats.org/officeDocument/2006/relationships/image" Target="../media/dashboard_ui.png"/>
</Relationships>
</file>

<file path=ppt/slides/_rels/slide1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Logo" Type="http://schemas.openxmlformats.org/officeDocument/2006/relationships/image" Target="../media/image1.png"/>
  <Relationship Id="rIdScreenshot" Type="http://schemas.openxmlformats.org/officeDocument/2006/relationships/image" Target="../media/transactions_ui.png"/>
</Relationships>
</file>

<file path=ppt/slides/_rels/slide1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Logo" Type="http://schemas.openxmlformats.org/officeDocument/2006/relationships/image" Target="../media/image1.png"/>
  <Relationship Id="rIdScreenshot" Type="http://schemas.openxmlformats.org/officeDocument/2006/relationships/image" Target="../media/budgets_ui.png"/>
</Relationships>
</file>

<file path=ppt/slides/_rels/slide13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Logo" Type="http://schemas.openxmlformats.org/officeDocument/2006/relationships/image" Target="../media/image1.png"/>
</Relationships>
</file>

<file path=ppt/slides/_rels/slide14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Logo" Type="http://schemas.openxmlformats.org/officeDocument/2006/relationships/image" Target="../media/image1.png"/>
</Relationships>
</file>

<file path=ppt/slides/_rels/slide15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Logo" Type="http://schemas.openxmlformats.org/officeDocument/2006/relationships/image" Target="../media/image1.png"/>
</Relationships>
</file>

<file path=ppt/slides/_rels/slide16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Logo" Type="http://schemas.openxmlformats.org/officeDocument/2006/relationships/image" Target="../media/image1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_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_3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_4"/>
          <p:cNvSpPr/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5" name="CollegeCrest_5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5221000" y="240000"/>
            <a:ext cx="1750000" cy="1750000"/>
          </a:xfrm>
          <a:prstGeom prst="rect">
            <a:avLst/>
          </a:prstGeom>
        </p:spPr>
      </p:pic>
      <p:sp>
        <p:nvSpPr>
          <p:cNvPr id="6" name="TB_6"/>
          <p:cNvSpPr txBox="1"/>
          <p:nvPr/>
        </p:nvSpPr>
        <p:spPr>
          <a:xfrm>
            <a:off x="600000" y="2090000"/>
            <a:ext cx="10992000" cy="65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IN" sz="2800" b="1" dirty="0">
                <a:solidFill>
                  <a:srgbClr val="1E293B"/>
                </a:solidFill>
              </a:rPr>
              <a:t>Industrial Training Presentation</a:t>
            </a:r>
          </a:p>
        </p:txBody>
      </p:sp>
      <p:sp>
        <p:nvSpPr>
          <p:cNvPr id="7" name="TB_7"/>
          <p:cNvSpPr txBox="1"/>
          <p:nvPr/>
        </p:nvSpPr>
        <p:spPr>
          <a:xfrm>
            <a:off x="600000" y="2690000"/>
            <a:ext cx="10992000" cy="52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IN" sz="1850" b="1" i="1" dirty="0">
                <a:solidFill>
                  <a:srgbClr val="2563EB"/>
                </a:solidFill>
              </a:rPr>
              <a:t>Expenso — Personal Finance &amp; Expense Tracker</a:t>
            </a:r>
          </a:p>
        </p:txBody>
      </p:sp>
      <p:sp>
        <p:nvSpPr>
          <p:cNvPr id="8" name="TB_8"/>
          <p:cNvSpPr txBox="1"/>
          <p:nvPr/>
        </p:nvSpPr>
        <p:spPr>
          <a:xfrm>
            <a:off x="600000" y="3230000"/>
            <a:ext cx="10992000" cy="42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IN" sz="1450" u="sng" dirty="0">
                <a:solidFill>
                  <a:srgbClr val="334155"/>
                </a:solidFill>
              </a:rPr>
              <a:t>B.Tech — Computer Science &amp; Engineering</a:t>
            </a:r>
          </a:p>
        </p:txBody>
      </p:sp>
      <p:sp>
        <p:nvSpPr>
          <p:cNvPr id="9" name="TB_9"/>
          <p:cNvSpPr txBox="1"/>
          <p:nvPr/>
        </p:nvSpPr>
        <p:spPr>
          <a:xfrm>
            <a:off x="600000" y="3630000"/>
            <a:ext cx="10992000" cy="42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IN" sz="1350" dirty="0">
                <a:solidFill>
                  <a:srgbClr val="475569"/>
                </a:solidFill>
              </a:rPr>
              <a:t>Arya Institute of Engineering Technology &amp; Management (AIETM), Jaipur</a:t>
            </a:r>
          </a:p>
        </p:txBody>
      </p:sp>
      <p:sp>
        <p:nvSpPr>
          <p:cNvPr id="10" name="TB_10"/>
          <p:cNvSpPr txBox="1"/>
          <p:nvPr/>
        </p:nvSpPr>
        <p:spPr>
          <a:xfrm>
            <a:off x="600000" y="3990000"/>
            <a:ext cx="10992000" cy="38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IN" sz="1250" dirty="0">
                <a:solidFill>
                  <a:srgbClr val="64748B"/>
                </a:solidFill>
              </a:rPr>
              <a:t>4th Year  |  Academic Year 2025–26</a:t>
            </a:r>
          </a:p>
        </p:txBody>
      </p:sp>
      <p:sp>
        <p:nvSpPr>
          <p:cNvPr id="11" name="R_11"/>
          <p:cNvSpPr/>
          <p:nvPr/>
        </p:nvSpPr>
        <p:spPr>
          <a:xfrm>
            <a:off x="1800000" y="4450000"/>
            <a:ext cx="8592000" cy="2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B_12"/>
          <p:cNvSpPr txBox="1"/>
          <p:nvPr/>
        </p:nvSpPr>
        <p:spPr>
          <a:xfrm>
            <a:off x="1600000" y="4530000"/>
            <a:ext cx="42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 algn="l"/>
            <a:r>
              <a:rPr lang="en-IN" sz="1350" b="1" dirty="0">
                <a:solidFill>
                  <a:srgbClr val="1E3A8A"/>
                </a:solidFill>
              </a:rPr>
              <a:t>Submitted by:</a:t>
            </a:r>
          </a:p>
          <a:p>
            <a:pPr algn="l">
              <a:spcBef>
                <a:spcPts val="40"/>
              </a:spcBef>
            </a:pPr>
            <a:r>
              <a:rPr lang="en-IN" sz="1500" b="1" dirty="0">
                <a:solidFill>
                  <a:srgbClr val="0F172A"/>
                </a:solidFill>
              </a:rPr>
              <a:t>Fareed Khilji</a:t>
            </a:r>
          </a:p>
          <a:p>
            <a:pPr algn="l">
              <a:spcBef>
                <a:spcPts val="30"/>
              </a:spcBef>
            </a:pPr>
            <a:r>
              <a:rPr lang="en-IN" sz="1300" dirty="0">
                <a:solidFill>
                  <a:srgbClr val="334155"/>
                </a:solidFill>
              </a:rPr>
              <a:t>Roll No: 23EA0CA030</a:t>
            </a:r>
          </a:p>
        </p:txBody>
      </p:sp>
      <p:sp>
        <p:nvSpPr>
          <p:cNvPr id="13" name="TB_13"/>
          <p:cNvSpPr txBox="1"/>
          <p:nvPr/>
        </p:nvSpPr>
        <p:spPr>
          <a:xfrm>
            <a:off x="6392000" y="4530000"/>
            <a:ext cx="42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 algn="r"/>
            <a:r>
              <a:rPr lang="en-IN" sz="1350" b="1" dirty="0">
                <a:solidFill>
                  <a:srgbClr val="1E3A8A"/>
                </a:solidFill>
              </a:rPr>
              <a:t>Submitted to:</a:t>
            </a:r>
          </a:p>
          <a:p>
            <a:pPr algn="r">
              <a:spcBef>
                <a:spcPts val="40"/>
              </a:spcBef>
            </a:pPr>
            <a:r>
              <a:rPr lang="en-IN" sz="1500" b="1" dirty="0">
                <a:solidFill>
                  <a:srgbClr val="0F172A"/>
                </a:solidFill>
              </a:rPr>
              <a:t>Dr. Sanjay Tiwari</a:t>
            </a:r>
          </a:p>
          <a:p>
            <a:pPr algn="r">
              <a:spcBef>
                <a:spcPts val="30"/>
              </a:spcBef>
            </a:pPr>
            <a:r>
              <a:rPr lang="en-IN" sz="1300" dirty="0">
                <a:solidFill>
                  <a:srgbClr val="334155"/>
                </a:solidFill>
              </a:rPr>
              <a:t>(HOD, CSE Dept.)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_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_3"/>
          <p:cNvSpPr/>
          <p:nvPr/>
        </p:nvSpPr>
        <p:spPr>
          <a:xfrm>
            <a:off x="0" y="0"/>
            <a:ext cx="12192000" cy="95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_4"/>
          <p:cNvSpPr/>
          <p:nvPr/>
        </p:nvSpPr>
        <p:spPr>
          <a:xfrm>
            <a:off x="0" y="950000"/>
            <a:ext cx="12192000" cy="2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pic>
        <p:nvPicPr>
          <p:cNvPr id="5" name="HeaderLogo_5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280000" y="110000"/>
            <a:ext cx="730000" cy="730000"/>
          </a:xfrm>
          <a:prstGeom prst="rect">
            <a:avLst/>
          </a:prstGeom>
        </p:spPr>
      </p:pic>
      <p:sp>
        <p:nvSpPr>
          <p:cNvPr id="6" name="TB_6"/>
          <p:cNvSpPr txBox="1"/>
          <p:nvPr/>
        </p:nvSpPr>
        <p:spPr>
          <a:xfrm>
            <a:off x="1150000" y="140000"/>
            <a:ext cx="8992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850" b="1" dirty="0">
                <a:solidFill>
                  <a:srgbClr val="FCD34D"/>
                </a:solidFill>
              </a:rPr>
              <a:t>EXECUTIVE OVERVIEW</a:t>
            </a:r>
          </a:p>
        </p:txBody>
      </p:sp>
      <p:sp>
        <p:nvSpPr>
          <p:cNvPr id="7" name="TB_7"/>
          <p:cNvSpPr txBox="1"/>
          <p:nvPr/>
        </p:nvSpPr>
        <p:spPr>
          <a:xfrm>
            <a:off x="1150000" y="390000"/>
            <a:ext cx="8992000" cy="48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2000" b="1" dirty="0">
                <a:solidFill>
                  <a:srgbClr val="FFFFFF"/>
                </a:solidFill>
              </a:rPr>
              <a:t>Project Overview &amp; Core Concept</a:t>
            </a:r>
          </a:p>
        </p:txBody>
      </p:sp>
      <p:sp>
        <p:nvSpPr>
          <p:cNvPr id="8" name="TB_8"/>
          <p:cNvSpPr txBox="1"/>
          <p:nvPr/>
        </p:nvSpPr>
        <p:spPr>
          <a:xfrm>
            <a:off x="10392000" y="260000"/>
            <a:ext cx="15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r"/>
            <a:r>
              <a:rPr lang="en-IN" sz="1100" b="1" dirty="0">
                <a:solidFill>
                  <a:srgbClr val="BFDBFE"/>
                </a:solidFill>
              </a:rPr>
              <a:t>02 / 16</a:t>
            </a:r>
          </a:p>
        </p:txBody>
      </p:sp>
      <p:sp>
        <p:nvSpPr>
          <p:cNvPr id="9" name="R_9"/>
          <p:cNvSpPr/>
          <p:nvPr/>
        </p:nvSpPr>
        <p:spPr>
          <a:xfrm>
            <a:off x="0" y="6518000"/>
            <a:ext cx="12192000" cy="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B_10"/>
          <p:cNvSpPr txBox="1"/>
          <p:nvPr/>
        </p:nvSpPr>
        <p:spPr>
          <a:xfrm>
            <a:off x="400000" y="6538000"/>
            <a:ext cx="11392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IN" sz="850" dirty="0">
                <a:solidFill>
                  <a:srgbClr val="64748B"/>
                </a:solidFill>
              </a:rPr>
              <a:t>Expenso Project  |  Fareed Khilji (23EA0CA030)  |  AIETM Jaipur (2025–26)</a:t>
            </a:r>
          </a:p>
        </p:txBody>
      </p:sp>
      <p:sp>
        <p:nvSpPr>
          <p:cNvPr id="11" name="R_11"/>
          <p:cNvSpPr/>
          <p:nvPr/>
        </p:nvSpPr>
        <p:spPr>
          <a:xfrm>
            <a:off x="600000" y="1180000"/>
            <a:ext cx="5250000" cy="36000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2" name="R_12"/>
          <p:cNvSpPr/>
          <p:nvPr/>
        </p:nvSpPr>
        <p:spPr>
          <a:xfrm>
            <a:off x="620000" y="1200000"/>
            <a:ext cx="5210000" cy="6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B_13"/>
          <p:cNvSpPr txBox="1"/>
          <p:nvPr/>
        </p:nvSpPr>
        <p:spPr>
          <a:xfrm>
            <a:off x="720000" y="1300000"/>
            <a:ext cx="501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1300" b="1" dirty="0">
                <a:solidFill>
                  <a:srgbClr val="1E3A8A"/>
                </a:solidFill>
              </a:rPr>
              <a:t>💡 What is Expenso?</a:t>
            </a:r>
          </a:p>
        </p:txBody>
      </p:sp>
      <p:sp>
        <p:nvSpPr>
          <p:cNvPr id="14" name="TB_14"/>
          <p:cNvSpPr txBox="1"/>
          <p:nvPr/>
        </p:nvSpPr>
        <p:spPr>
          <a:xfrm>
            <a:off x="720000" y="1720000"/>
            <a:ext cx="5010000" cy="30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1E3A8A"/>
              </a:buClr>
            </a:pPr>
            <a:r>
              <a:rPr lang="en-IN" sz="1050" dirty="0">
                <a:solidFill>
                  <a:srgbClr val="334155"/>
                </a:solidFill>
              </a:rPr>
              <a:t>A full-stack, privacy-first personal finance application.</a:t>
            </a:r>
          </a:p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1E3A8A"/>
              </a:buClr>
            </a:pPr>
            <a:r>
              <a:rPr lang="en-IN" sz="1050" dirty="0">
                <a:solidFill>
                  <a:srgbClr val="334155"/>
                </a:solidFill>
              </a:rPr>
              <a:t>Engineered for sub-5-second daily expense and income logging.</a:t>
            </a:r>
          </a:p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1E3A8A"/>
              </a:buClr>
            </a:pPr>
            <a:r>
              <a:rPr lang="en-IN" sz="1050" dirty="0">
                <a:solidFill>
                  <a:srgbClr val="334155"/>
                </a:solidFill>
              </a:rPr>
              <a:t>Interactive real-time analytics with Chart.js visualization.</a:t>
            </a:r>
          </a:p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1E3A8A"/>
              </a:buClr>
            </a:pPr>
            <a:r>
              <a:rPr lang="en-IN" sz="1050" dirty="0">
                <a:solidFill>
                  <a:srgbClr val="334155"/>
                </a:solidFill>
              </a:rPr>
              <a:t>Self-hosted SQLite database with zero cloud data sharing.</a:t>
            </a:r>
          </a:p>
        </p:txBody>
      </p:sp>
      <p:sp>
        <p:nvSpPr>
          <p:cNvPr id="15" name="R_15"/>
          <p:cNvSpPr/>
          <p:nvPr/>
        </p:nvSpPr>
        <p:spPr>
          <a:xfrm>
            <a:off x="6350000" y="1180000"/>
            <a:ext cx="5250000" cy="36000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6" name="R_16"/>
          <p:cNvSpPr/>
          <p:nvPr/>
        </p:nvSpPr>
        <p:spPr>
          <a:xfrm>
            <a:off x="6370000" y="1200000"/>
            <a:ext cx="5210000" cy="6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B_17"/>
          <p:cNvSpPr txBox="1"/>
          <p:nvPr/>
        </p:nvSpPr>
        <p:spPr>
          <a:xfrm>
            <a:off x="6470000" y="1300000"/>
            <a:ext cx="501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1300" b="1" dirty="0">
                <a:solidFill>
                  <a:srgbClr val="2563EB"/>
                </a:solidFill>
              </a:rPr>
              <a:t>🎯 Motivation &amp; Need</a:t>
            </a:r>
          </a:p>
        </p:txBody>
      </p:sp>
      <p:sp>
        <p:nvSpPr>
          <p:cNvPr id="18" name="TB_18"/>
          <p:cNvSpPr txBox="1"/>
          <p:nvPr/>
        </p:nvSpPr>
        <p:spPr>
          <a:xfrm>
            <a:off x="6470000" y="1720000"/>
            <a:ext cx="5010000" cy="30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2563EB"/>
              </a:buClr>
            </a:pPr>
            <a:r>
              <a:rPr lang="en-IN" sz="1050" dirty="0">
                <a:solidFill>
                  <a:srgbClr val="334155"/>
                </a:solidFill>
              </a:rPr>
              <a:t>Existing apps require 5-6 clicks and rigid complex forms.</a:t>
            </a:r>
          </a:p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2563EB"/>
              </a:buClr>
            </a:pPr>
            <a:r>
              <a:rPr lang="en-IN" sz="1050" dirty="0">
                <a:solidFill>
                  <a:srgbClr val="334155"/>
                </a:solidFill>
              </a:rPr>
              <a:t>Commercial apps read user SMS and monetize private habits.</a:t>
            </a:r>
          </a:p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2563EB"/>
              </a:buClr>
            </a:pPr>
            <a:r>
              <a:rPr lang="en-IN" sz="1050" dirty="0">
                <a:solidFill>
                  <a:srgbClr val="334155"/>
                </a:solidFill>
              </a:rPr>
              <a:t>Heavy frontends cause sluggish performance on mobile devices.</a:t>
            </a:r>
          </a:p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2563EB"/>
              </a:buClr>
            </a:pPr>
            <a:r>
              <a:rPr lang="en-IN" sz="1050" dirty="0">
                <a:solidFill>
                  <a:srgbClr val="334155"/>
                </a:solidFill>
              </a:rPr>
              <a:t>Expenso offers a clean, lightning-fast, zero-bloat solution.</a:t>
            </a:r>
          </a:p>
        </p:txBody>
      </p:sp>
      <p:sp>
        <p:nvSpPr>
          <p:cNvPr id="19" name="R_19"/>
          <p:cNvSpPr/>
          <p:nvPr/>
        </p:nvSpPr>
        <p:spPr>
          <a:xfrm>
            <a:off x="600000" y="4980000"/>
            <a:ext cx="3350000" cy="115000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15000">
            <a:solidFill>
              <a:srgbClr val="93C5FD"/>
            </a:solidFill>
          </a:ln>
        </p:spPr>
        <p:txBody>
          <a:bodyPr/>
          <a:lstStyle/>
          <a:p/>
        </p:txBody>
      </p:sp>
      <p:sp>
        <p:nvSpPr>
          <p:cNvPr id="20" name="TB_20"/>
          <p:cNvSpPr txBox="1"/>
          <p:nvPr/>
        </p:nvSpPr>
        <p:spPr>
          <a:xfrm>
            <a:off x="680000" y="5100000"/>
            <a:ext cx="319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IN" sz="1250" b="1" dirty="0">
                <a:solidFill>
                  <a:srgbClr val="1E3A8A"/>
                </a:solidFill>
              </a:rPr>
              <a:t>⚡ &lt; 5s Logging</a:t>
            </a:r>
          </a:p>
        </p:txBody>
      </p:sp>
      <p:sp>
        <p:nvSpPr>
          <p:cNvPr id="21" name="TB_21"/>
          <p:cNvSpPr txBox="1"/>
          <p:nvPr/>
        </p:nvSpPr>
        <p:spPr>
          <a:xfrm>
            <a:off x="680000" y="5540000"/>
            <a:ext cx="319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IN" sz="950" dirty="0">
                <a:solidFill>
                  <a:srgbClr val="475569"/>
                </a:solidFill>
              </a:rPr>
              <a:t>Zero-friction entry workflow</a:t>
            </a:r>
          </a:p>
        </p:txBody>
      </p:sp>
      <p:sp>
        <p:nvSpPr>
          <p:cNvPr id="22" name="R_22"/>
          <p:cNvSpPr/>
          <p:nvPr/>
        </p:nvSpPr>
        <p:spPr>
          <a:xfrm>
            <a:off x="4175000" y="4980000"/>
            <a:ext cx="3350000" cy="115000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15000">
            <a:solidFill>
              <a:srgbClr val="93C5FD"/>
            </a:solidFill>
          </a:ln>
        </p:spPr>
        <p:txBody>
          <a:bodyPr/>
          <a:lstStyle/>
          <a:p/>
        </p:txBody>
      </p:sp>
      <p:sp>
        <p:nvSpPr>
          <p:cNvPr id="23" name="TB_23"/>
          <p:cNvSpPr txBox="1"/>
          <p:nvPr/>
        </p:nvSpPr>
        <p:spPr>
          <a:xfrm>
            <a:off x="4255000" y="5100000"/>
            <a:ext cx="319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IN" sz="1250" b="1" dirty="0">
                <a:solidFill>
                  <a:srgbClr val="1E3A8A"/>
                </a:solidFill>
              </a:rPr>
              <a:t>🔒 100% Private</a:t>
            </a:r>
          </a:p>
        </p:txBody>
      </p:sp>
      <p:sp>
        <p:nvSpPr>
          <p:cNvPr id="24" name="TB_24"/>
          <p:cNvSpPr txBox="1"/>
          <p:nvPr/>
        </p:nvSpPr>
        <p:spPr>
          <a:xfrm>
            <a:off x="4255000" y="5540000"/>
            <a:ext cx="319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IN" sz="950" dirty="0">
                <a:solidFill>
                  <a:srgbClr val="475569"/>
                </a:solidFill>
              </a:rPr>
              <a:t>Local SQLite database storage</a:t>
            </a:r>
          </a:p>
        </p:txBody>
      </p:sp>
      <p:sp>
        <p:nvSpPr>
          <p:cNvPr id="25" name="R_25"/>
          <p:cNvSpPr/>
          <p:nvPr/>
        </p:nvSpPr>
        <p:spPr>
          <a:xfrm>
            <a:off x="7750000" y="4980000"/>
            <a:ext cx="3350000" cy="115000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15000">
            <a:solidFill>
              <a:srgbClr val="93C5FD"/>
            </a:solidFill>
          </a:ln>
        </p:spPr>
        <p:txBody>
          <a:bodyPr/>
          <a:lstStyle/>
          <a:p/>
        </p:txBody>
      </p:sp>
      <p:sp>
        <p:nvSpPr>
          <p:cNvPr id="26" name="TB_26"/>
          <p:cNvSpPr txBox="1"/>
          <p:nvPr/>
        </p:nvSpPr>
        <p:spPr>
          <a:xfrm>
            <a:off x="7830000" y="5100000"/>
            <a:ext cx="319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IN" sz="1250" b="1" dirty="0">
                <a:solidFill>
                  <a:srgbClr val="1E3A8A"/>
                </a:solidFill>
              </a:rPr>
              <a:t>📱 Zero Bloat</a:t>
            </a:r>
          </a:p>
        </p:txBody>
      </p:sp>
      <p:sp>
        <p:nvSpPr>
          <p:cNvPr id="27" name="TB_27"/>
          <p:cNvSpPr txBox="1"/>
          <p:nvPr/>
        </p:nvSpPr>
        <p:spPr>
          <a:xfrm>
            <a:off x="7830000" y="5540000"/>
            <a:ext cx="319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IN" sz="950" dirty="0">
                <a:solidFill>
                  <a:srgbClr val="475569"/>
                </a:solidFill>
              </a:rPr>
              <a:t>Vanilla JS with no npm overhead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_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_3"/>
          <p:cNvSpPr/>
          <p:nvPr/>
        </p:nvSpPr>
        <p:spPr>
          <a:xfrm>
            <a:off x="0" y="0"/>
            <a:ext cx="12192000" cy="95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_4"/>
          <p:cNvSpPr/>
          <p:nvPr/>
        </p:nvSpPr>
        <p:spPr>
          <a:xfrm>
            <a:off x="0" y="950000"/>
            <a:ext cx="12192000" cy="2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pic>
        <p:nvPicPr>
          <p:cNvPr id="5" name="HeaderLogo_5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280000" y="110000"/>
            <a:ext cx="730000" cy="730000"/>
          </a:xfrm>
          <a:prstGeom prst="rect">
            <a:avLst/>
          </a:prstGeom>
        </p:spPr>
      </p:pic>
      <p:sp>
        <p:nvSpPr>
          <p:cNvPr id="6" name="TB_6"/>
          <p:cNvSpPr txBox="1"/>
          <p:nvPr/>
        </p:nvSpPr>
        <p:spPr>
          <a:xfrm>
            <a:off x="1150000" y="140000"/>
            <a:ext cx="8992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850" b="1" dirty="0">
                <a:solidFill>
                  <a:srgbClr val="FCD34D"/>
                </a:solidFill>
              </a:rPr>
              <a:t>PROBLEM IDENTIFICATION</a:t>
            </a:r>
          </a:p>
        </p:txBody>
      </p:sp>
      <p:sp>
        <p:nvSpPr>
          <p:cNvPr id="7" name="TB_7"/>
          <p:cNvSpPr txBox="1"/>
          <p:nvPr/>
        </p:nvSpPr>
        <p:spPr>
          <a:xfrm>
            <a:off x="1150000" y="390000"/>
            <a:ext cx="8992000" cy="48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2000" b="1" dirty="0">
                <a:solidFill>
                  <a:srgbClr val="FFFFFF"/>
                </a:solidFill>
              </a:rPr>
              <a:t>Problem Statement &amp; Market Gaps</a:t>
            </a:r>
          </a:p>
        </p:txBody>
      </p:sp>
      <p:sp>
        <p:nvSpPr>
          <p:cNvPr id="8" name="TB_8"/>
          <p:cNvSpPr txBox="1"/>
          <p:nvPr/>
        </p:nvSpPr>
        <p:spPr>
          <a:xfrm>
            <a:off x="10392000" y="260000"/>
            <a:ext cx="15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r"/>
            <a:r>
              <a:rPr lang="en-IN" sz="1100" b="1" dirty="0">
                <a:solidFill>
                  <a:srgbClr val="BFDBFE"/>
                </a:solidFill>
              </a:rPr>
              <a:t>03 / 16</a:t>
            </a:r>
          </a:p>
        </p:txBody>
      </p:sp>
      <p:sp>
        <p:nvSpPr>
          <p:cNvPr id="9" name="R_9"/>
          <p:cNvSpPr/>
          <p:nvPr/>
        </p:nvSpPr>
        <p:spPr>
          <a:xfrm>
            <a:off x="0" y="6518000"/>
            <a:ext cx="12192000" cy="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B_10"/>
          <p:cNvSpPr txBox="1"/>
          <p:nvPr/>
        </p:nvSpPr>
        <p:spPr>
          <a:xfrm>
            <a:off x="400000" y="6538000"/>
            <a:ext cx="11392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IN" sz="850" dirty="0">
                <a:solidFill>
                  <a:srgbClr val="64748B"/>
                </a:solidFill>
              </a:rPr>
              <a:t>Expenso Project  |  Fareed Khilji (23EA0CA030)  |  AIETM Jaipur (2025–26)</a:t>
            </a:r>
          </a:p>
        </p:txBody>
      </p:sp>
      <p:sp>
        <p:nvSpPr>
          <p:cNvPr id="11" name="R_11"/>
          <p:cNvSpPr/>
          <p:nvPr/>
        </p:nvSpPr>
        <p:spPr>
          <a:xfrm>
            <a:off x="600000" y="1180000"/>
            <a:ext cx="5250000" cy="500000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19050">
            <a:solidFill>
              <a:srgbClr val="FCA5A5"/>
            </a:solidFill>
          </a:ln>
        </p:spPr>
        <p:txBody>
          <a:bodyPr/>
          <a:lstStyle/>
          <a:p/>
        </p:txBody>
      </p:sp>
      <p:sp>
        <p:nvSpPr>
          <p:cNvPr id="12" name="R_12"/>
          <p:cNvSpPr/>
          <p:nvPr/>
        </p:nvSpPr>
        <p:spPr>
          <a:xfrm>
            <a:off x="620000" y="1200000"/>
            <a:ext cx="5210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B_13"/>
          <p:cNvSpPr txBox="1"/>
          <p:nvPr/>
        </p:nvSpPr>
        <p:spPr>
          <a:xfrm>
            <a:off x="720000" y="1300000"/>
            <a:ext cx="501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1300" b="1" dirty="0">
                <a:solidFill>
                  <a:srgbClr val="DC2626"/>
                </a:solidFill>
              </a:rPr>
              <a:t>❌ Current Industry Problems</a:t>
            </a:r>
          </a:p>
        </p:txBody>
      </p:sp>
      <p:sp>
        <p:nvSpPr>
          <p:cNvPr id="14" name="TB_14"/>
          <p:cNvSpPr txBox="1"/>
          <p:nvPr/>
        </p:nvSpPr>
        <p:spPr>
          <a:xfrm>
            <a:off x="720000" y="1720000"/>
            <a:ext cx="5010000" cy="44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DC2626"/>
              </a:buClr>
            </a:pPr>
            <a:r>
              <a:rPr lang="en-IN" sz="1050" dirty="0">
                <a:solidFill>
                  <a:srgbClr val="334155"/>
                </a:solidFill>
              </a:rPr>
              <a:t>Tedious Logging: 5+ steps to record a single cup of tea/coffee.</a:t>
            </a:r>
          </a:p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DC2626"/>
              </a:buClr>
            </a:pPr>
            <a:r>
              <a:rPr lang="en-IN" sz="1050" dirty="0">
                <a:solidFill>
                  <a:srgbClr val="334155"/>
                </a:solidFill>
              </a:rPr>
              <a:t>Privacy Invasions: Apps snoop SMS messages and sale leads.</a:t>
            </a:r>
          </a:p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DC2626"/>
              </a:buClr>
            </a:pPr>
            <a:r>
              <a:rPr lang="en-IN" sz="1050" dirty="0">
                <a:solidFill>
                  <a:srgbClr val="334155"/>
                </a:solidFill>
              </a:rPr>
              <a:t>Bloated Frameworks: 10MB+ bundle sizes slow on budget devices.</a:t>
            </a:r>
          </a:p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DC2626"/>
              </a:buClr>
            </a:pPr>
            <a:r>
              <a:rPr lang="en-IN" sz="1050" dirty="0">
                <a:solidFill>
                  <a:srgbClr val="334155"/>
                </a:solidFill>
              </a:rPr>
              <a:t>Cluttered UI: Cluttered with ads, loans, and credit card promotions.</a:t>
            </a:r>
          </a:p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DC2626"/>
              </a:buClr>
            </a:pPr>
            <a:r>
              <a:rPr lang="en-IN" sz="1050" dirty="0">
                <a:solidFill>
                  <a:srgbClr val="334155"/>
                </a:solidFill>
              </a:rPr>
              <a:t>High Abandonment: Over 80% users stop tracking within 14 days.</a:t>
            </a:r>
          </a:p>
        </p:txBody>
      </p:sp>
      <p:sp>
        <p:nvSpPr>
          <p:cNvPr id="15" name="R_15"/>
          <p:cNvSpPr/>
          <p:nvPr/>
        </p:nvSpPr>
        <p:spPr>
          <a:xfrm>
            <a:off x="6350000" y="1180000"/>
            <a:ext cx="5250000" cy="5000000"/>
          </a:xfrm>
          <a:prstGeom prst="roundRect">
            <a:avLst>
              <a:gd name="adj" fmla="val 3000"/>
            </a:avLst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txBody>
          <a:bodyPr/>
          <a:lstStyle/>
          <a:p/>
        </p:txBody>
      </p:sp>
      <p:sp>
        <p:nvSpPr>
          <p:cNvPr id="16" name="R_16"/>
          <p:cNvSpPr/>
          <p:nvPr/>
        </p:nvSpPr>
        <p:spPr>
          <a:xfrm>
            <a:off x="6370000" y="1200000"/>
            <a:ext cx="5210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B_17"/>
          <p:cNvSpPr txBox="1"/>
          <p:nvPr/>
        </p:nvSpPr>
        <p:spPr>
          <a:xfrm>
            <a:off x="6470000" y="1300000"/>
            <a:ext cx="501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1300" b="1" dirty="0">
                <a:solidFill>
                  <a:srgbClr val="16A34A"/>
                </a:solidFill>
              </a:rPr>
              <a:t>✅ Expenso Solution</a:t>
            </a:r>
          </a:p>
        </p:txBody>
      </p:sp>
      <p:sp>
        <p:nvSpPr>
          <p:cNvPr id="18" name="TB_18"/>
          <p:cNvSpPr txBox="1"/>
          <p:nvPr/>
        </p:nvSpPr>
        <p:spPr>
          <a:xfrm>
            <a:off x="6470000" y="1720000"/>
            <a:ext cx="5010000" cy="44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16A34A"/>
              </a:buClr>
            </a:pPr>
            <a:r>
              <a:rPr lang="en-IN" sz="1050" dirty="0">
                <a:solidFill>
                  <a:srgbClr val="334155"/>
                </a:solidFill>
              </a:rPr>
              <a:t>Sub-5s Rapid Entry: Default payment mode (UPI) &amp; optional fields.</a:t>
            </a:r>
          </a:p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16A34A"/>
              </a:buClr>
            </a:pPr>
            <a:r>
              <a:rPr lang="en-IN" sz="1050" dirty="0">
                <a:solidFill>
                  <a:srgbClr val="334155"/>
                </a:solidFill>
              </a:rPr>
              <a:t>Strict Privacy: Data stays in local SQLite; zero external trackers.</a:t>
            </a:r>
          </a:p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16A34A"/>
              </a:buClr>
            </a:pPr>
            <a:r>
              <a:rPr lang="en-IN" sz="1050" dirty="0">
                <a:solidFill>
                  <a:srgbClr val="334155"/>
                </a:solidFill>
              </a:rPr>
              <a:t>Modular Vanilla JS: Instant load times under 150ms without bloat.</a:t>
            </a:r>
          </a:p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16A34A"/>
              </a:buClr>
            </a:pPr>
            <a:r>
              <a:rPr lang="en-IN" sz="1050" dirty="0">
                <a:solidFill>
                  <a:srgbClr val="334155"/>
                </a:solidFill>
              </a:rPr>
              <a:t>Clean Minimal UI: Ad-free, focused dashboard with smooth themes.</a:t>
            </a:r>
          </a:p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16A34A"/>
              </a:buClr>
            </a:pPr>
            <a:r>
              <a:rPr lang="en-IN" sz="1050" dirty="0">
                <a:solidFill>
                  <a:srgbClr val="334155"/>
                </a:solidFill>
              </a:rPr>
              <a:t>Intelligent Auto-Detect: Predicts categories from keywords automatically.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_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_3"/>
          <p:cNvSpPr/>
          <p:nvPr/>
        </p:nvSpPr>
        <p:spPr>
          <a:xfrm>
            <a:off x="0" y="0"/>
            <a:ext cx="12192000" cy="95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_4"/>
          <p:cNvSpPr/>
          <p:nvPr/>
        </p:nvSpPr>
        <p:spPr>
          <a:xfrm>
            <a:off x="0" y="950000"/>
            <a:ext cx="12192000" cy="2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pic>
        <p:nvPicPr>
          <p:cNvPr id="5" name="HeaderLogo_5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280000" y="110000"/>
            <a:ext cx="730000" cy="730000"/>
          </a:xfrm>
          <a:prstGeom prst="rect">
            <a:avLst/>
          </a:prstGeom>
        </p:spPr>
      </p:pic>
      <p:sp>
        <p:nvSpPr>
          <p:cNvPr id="6" name="TB_6"/>
          <p:cNvSpPr txBox="1"/>
          <p:nvPr/>
        </p:nvSpPr>
        <p:spPr>
          <a:xfrm>
            <a:off x="1150000" y="140000"/>
            <a:ext cx="8992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850" b="1" dirty="0">
                <a:solidFill>
                  <a:srgbClr val="FCD34D"/>
                </a:solidFill>
              </a:rPr>
              <a:t>PROJECT OBJECTIVES</a:t>
            </a:r>
          </a:p>
        </p:txBody>
      </p:sp>
      <p:sp>
        <p:nvSpPr>
          <p:cNvPr id="7" name="TB_7"/>
          <p:cNvSpPr txBox="1"/>
          <p:nvPr/>
        </p:nvSpPr>
        <p:spPr>
          <a:xfrm>
            <a:off x="1150000" y="390000"/>
            <a:ext cx="8992000" cy="48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2000" b="1" dirty="0">
                <a:solidFill>
                  <a:srgbClr val="FFFFFF"/>
                </a:solidFill>
              </a:rPr>
              <a:t>Key Objectives &amp; Goals</a:t>
            </a:r>
          </a:p>
        </p:txBody>
      </p:sp>
      <p:sp>
        <p:nvSpPr>
          <p:cNvPr id="8" name="TB_8"/>
          <p:cNvSpPr txBox="1"/>
          <p:nvPr/>
        </p:nvSpPr>
        <p:spPr>
          <a:xfrm>
            <a:off x="10392000" y="260000"/>
            <a:ext cx="15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r"/>
            <a:r>
              <a:rPr lang="en-IN" sz="1100" b="1" dirty="0">
                <a:solidFill>
                  <a:srgbClr val="BFDBFE"/>
                </a:solidFill>
              </a:rPr>
              <a:t>04 / 16</a:t>
            </a:r>
          </a:p>
        </p:txBody>
      </p:sp>
      <p:sp>
        <p:nvSpPr>
          <p:cNvPr id="9" name="R_9"/>
          <p:cNvSpPr/>
          <p:nvPr/>
        </p:nvSpPr>
        <p:spPr>
          <a:xfrm>
            <a:off x="0" y="6518000"/>
            <a:ext cx="12192000" cy="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B_10"/>
          <p:cNvSpPr txBox="1"/>
          <p:nvPr/>
        </p:nvSpPr>
        <p:spPr>
          <a:xfrm>
            <a:off x="400000" y="6538000"/>
            <a:ext cx="11392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IN" sz="850" dirty="0">
                <a:solidFill>
                  <a:srgbClr val="64748B"/>
                </a:solidFill>
              </a:rPr>
              <a:t>Expenso Project  |  Fareed Khilji (23EA0CA030)  |  AIETM Jaipur (2025–26)</a:t>
            </a:r>
          </a:p>
        </p:txBody>
      </p:sp>
      <p:sp>
        <p:nvSpPr>
          <p:cNvPr id="11" name="R_11"/>
          <p:cNvSpPr/>
          <p:nvPr/>
        </p:nvSpPr>
        <p:spPr>
          <a:xfrm>
            <a:off x="600000" y="1180000"/>
            <a:ext cx="5250000" cy="23500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60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2" name="R_12"/>
          <p:cNvSpPr/>
          <p:nvPr/>
        </p:nvSpPr>
        <p:spPr>
          <a:xfrm>
            <a:off x="620000" y="1200000"/>
            <a:ext cx="5210000" cy="5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B_13"/>
          <p:cNvSpPr txBox="1"/>
          <p:nvPr/>
        </p:nvSpPr>
        <p:spPr>
          <a:xfrm>
            <a:off x="720000" y="1300000"/>
            <a:ext cx="501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1300" b="1" dirty="0">
                <a:solidFill>
                  <a:srgbClr val="1E3A8A"/>
                </a:solidFill>
              </a:rPr>
              <a:t>🎯 Rapid Expense Capture</a:t>
            </a:r>
          </a:p>
        </p:txBody>
      </p:sp>
      <p:sp>
        <p:nvSpPr>
          <p:cNvPr id="14" name="TB_14"/>
          <p:cNvSpPr txBox="1"/>
          <p:nvPr/>
        </p:nvSpPr>
        <p:spPr>
          <a:xfrm>
            <a:off x="720000" y="1800000"/>
            <a:ext cx="5010000" cy="163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 algn="l"/>
            <a:r>
              <a:rPr lang="en-IN" sz="1050" dirty="0">
                <a:solidFill>
                  <a:srgbClr val="334155"/>
                </a:solidFill>
              </a:rPr>
              <a:t>Enable users to log any transaction within 5 seconds with pre-selected UPI defaults and optional descriptions.</a:t>
            </a:r>
          </a:p>
        </p:txBody>
      </p:sp>
      <p:sp>
        <p:nvSpPr>
          <p:cNvPr id="15" name="R_15"/>
          <p:cNvSpPr/>
          <p:nvPr/>
        </p:nvSpPr>
        <p:spPr>
          <a:xfrm>
            <a:off x="6350000" y="1180000"/>
            <a:ext cx="5250000" cy="23500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60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6" name="R_16"/>
          <p:cNvSpPr/>
          <p:nvPr/>
        </p:nvSpPr>
        <p:spPr>
          <a:xfrm>
            <a:off x="6370000" y="1200000"/>
            <a:ext cx="5210000" cy="5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B_17"/>
          <p:cNvSpPr txBox="1"/>
          <p:nvPr/>
        </p:nvSpPr>
        <p:spPr>
          <a:xfrm>
            <a:off x="6470000" y="1300000"/>
            <a:ext cx="501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1300" b="1" dirty="0">
                <a:solidFill>
                  <a:srgbClr val="2563EB"/>
                </a:solidFill>
              </a:rPr>
              <a:t>🤖 NLP Keyword Auto-Detect</a:t>
            </a:r>
          </a:p>
        </p:txBody>
      </p:sp>
      <p:sp>
        <p:nvSpPr>
          <p:cNvPr id="18" name="TB_18"/>
          <p:cNvSpPr txBox="1"/>
          <p:nvPr/>
        </p:nvSpPr>
        <p:spPr>
          <a:xfrm>
            <a:off x="6470000" y="1800000"/>
            <a:ext cx="5010000" cy="163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 algn="l"/>
            <a:r>
              <a:rPr lang="en-IN" sz="1050" dirty="0">
                <a:solidFill>
                  <a:srgbClr val="334155"/>
                </a:solidFill>
              </a:rPr>
              <a:t>Implement client-side category prediction so typing 'Pizza' instantly selects Food &amp; Dining without manual clicks.</a:t>
            </a:r>
          </a:p>
        </p:txBody>
      </p:sp>
      <p:sp>
        <p:nvSpPr>
          <p:cNvPr id="19" name="R_19"/>
          <p:cNvSpPr/>
          <p:nvPr/>
        </p:nvSpPr>
        <p:spPr>
          <a:xfrm>
            <a:off x="600000" y="3800000"/>
            <a:ext cx="5250000" cy="23500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60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20" name="R_20"/>
          <p:cNvSpPr/>
          <p:nvPr/>
        </p:nvSpPr>
        <p:spPr>
          <a:xfrm>
            <a:off x="620000" y="3820000"/>
            <a:ext cx="5210000" cy="5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B_21"/>
          <p:cNvSpPr txBox="1"/>
          <p:nvPr/>
        </p:nvSpPr>
        <p:spPr>
          <a:xfrm>
            <a:off x="720000" y="3920000"/>
            <a:ext cx="501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1300" b="1" dirty="0">
                <a:solidFill>
                  <a:srgbClr val="0D9488"/>
                </a:solidFill>
              </a:rPr>
              <a:t>🛡️ Secure Auth &amp; Session</a:t>
            </a:r>
          </a:p>
        </p:txBody>
      </p:sp>
      <p:sp>
        <p:nvSpPr>
          <p:cNvPr id="22" name="TB_22"/>
          <p:cNvSpPr txBox="1"/>
          <p:nvPr/>
        </p:nvSpPr>
        <p:spPr>
          <a:xfrm>
            <a:off x="720000" y="4420000"/>
            <a:ext cx="5010000" cy="163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 algn="l"/>
            <a:r>
              <a:rPr lang="en-IN" sz="1050" dirty="0">
                <a:solidFill>
                  <a:srgbClr val="334155"/>
                </a:solidFill>
              </a:rPr>
              <a:t>Implement production-grade JWT stateless authentication, bcrypt password hashing, and role isolation.</a:t>
            </a:r>
          </a:p>
        </p:txBody>
      </p:sp>
      <p:sp>
        <p:nvSpPr>
          <p:cNvPr id="23" name="R_23"/>
          <p:cNvSpPr/>
          <p:nvPr/>
        </p:nvSpPr>
        <p:spPr>
          <a:xfrm>
            <a:off x="6350000" y="3800000"/>
            <a:ext cx="5250000" cy="23500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60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24" name="R_24"/>
          <p:cNvSpPr/>
          <p:nvPr/>
        </p:nvSpPr>
        <p:spPr>
          <a:xfrm>
            <a:off x="6370000" y="3820000"/>
            <a:ext cx="5210000" cy="5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TB_25"/>
          <p:cNvSpPr txBox="1"/>
          <p:nvPr/>
        </p:nvSpPr>
        <p:spPr>
          <a:xfrm>
            <a:off x="6470000" y="3920000"/>
            <a:ext cx="501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1300" b="1" dirty="0">
                <a:solidFill>
                  <a:srgbClr val="7C3AED"/>
                </a:solidFill>
              </a:rPr>
              <a:t>📊 Real-Time Analytics</a:t>
            </a:r>
          </a:p>
        </p:txBody>
      </p:sp>
      <p:sp>
        <p:nvSpPr>
          <p:cNvPr id="26" name="TB_26"/>
          <p:cNvSpPr txBox="1"/>
          <p:nvPr/>
        </p:nvSpPr>
        <p:spPr>
          <a:xfrm>
            <a:off x="6470000" y="4420000"/>
            <a:ext cx="5010000" cy="163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 algn="l"/>
            <a:r>
              <a:rPr lang="en-IN" sz="1050" dirty="0">
                <a:solidFill>
                  <a:srgbClr val="334155"/>
                </a:solidFill>
              </a:rPr>
              <a:t>Render dynamic income vs expense breakdowns and category charts instantly updated via Chart.js.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_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_3"/>
          <p:cNvSpPr/>
          <p:nvPr/>
        </p:nvSpPr>
        <p:spPr>
          <a:xfrm>
            <a:off x="0" y="0"/>
            <a:ext cx="12192000" cy="95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_4"/>
          <p:cNvSpPr/>
          <p:nvPr/>
        </p:nvSpPr>
        <p:spPr>
          <a:xfrm>
            <a:off x="0" y="950000"/>
            <a:ext cx="12192000" cy="2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pic>
        <p:nvPicPr>
          <p:cNvPr id="5" name="HeaderLogo_5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280000" y="110000"/>
            <a:ext cx="730000" cy="730000"/>
          </a:xfrm>
          <a:prstGeom prst="rect">
            <a:avLst/>
          </a:prstGeom>
        </p:spPr>
      </p:pic>
      <p:sp>
        <p:nvSpPr>
          <p:cNvPr id="6" name="TB_6"/>
          <p:cNvSpPr txBox="1"/>
          <p:nvPr/>
        </p:nvSpPr>
        <p:spPr>
          <a:xfrm>
            <a:off x="1150000" y="140000"/>
            <a:ext cx="8992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850" b="1" dirty="0">
                <a:solidFill>
                  <a:srgbClr val="FCD34D"/>
                </a:solidFill>
              </a:rPr>
              <a:t>SYSTEM ARCHITECTURE</a:t>
            </a:r>
          </a:p>
        </p:txBody>
      </p:sp>
      <p:sp>
        <p:nvSpPr>
          <p:cNvPr id="7" name="TB_7"/>
          <p:cNvSpPr txBox="1"/>
          <p:nvPr/>
        </p:nvSpPr>
        <p:spPr>
          <a:xfrm>
            <a:off x="1150000" y="390000"/>
            <a:ext cx="8992000" cy="48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2000" b="1" dirty="0">
                <a:solidFill>
                  <a:srgbClr val="FFFFFF"/>
                </a:solidFill>
              </a:rPr>
              <a:t>Three-Tier System Architecture</a:t>
            </a:r>
          </a:p>
        </p:txBody>
      </p:sp>
      <p:sp>
        <p:nvSpPr>
          <p:cNvPr id="8" name="TB_8"/>
          <p:cNvSpPr txBox="1"/>
          <p:nvPr/>
        </p:nvSpPr>
        <p:spPr>
          <a:xfrm>
            <a:off x="10392000" y="260000"/>
            <a:ext cx="15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r"/>
            <a:r>
              <a:rPr lang="en-IN" sz="1100" b="1" dirty="0">
                <a:solidFill>
                  <a:srgbClr val="BFDBFE"/>
                </a:solidFill>
              </a:rPr>
              <a:t>05 / 16</a:t>
            </a:r>
          </a:p>
        </p:txBody>
      </p:sp>
      <p:sp>
        <p:nvSpPr>
          <p:cNvPr id="9" name="R_9"/>
          <p:cNvSpPr/>
          <p:nvPr/>
        </p:nvSpPr>
        <p:spPr>
          <a:xfrm>
            <a:off x="0" y="6518000"/>
            <a:ext cx="12192000" cy="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B_10"/>
          <p:cNvSpPr txBox="1"/>
          <p:nvPr/>
        </p:nvSpPr>
        <p:spPr>
          <a:xfrm>
            <a:off x="400000" y="6538000"/>
            <a:ext cx="11392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IN" sz="850" dirty="0">
                <a:solidFill>
                  <a:srgbClr val="64748B"/>
                </a:solidFill>
              </a:rPr>
              <a:t>Expenso Project  |  Fareed Khilji (23EA0CA030)  |  AIETM Jaipur (2025–26)</a:t>
            </a:r>
          </a:p>
        </p:txBody>
      </p:sp>
      <p:sp>
        <p:nvSpPr>
          <p:cNvPr id="11" name="R_11"/>
          <p:cNvSpPr/>
          <p:nvPr/>
        </p:nvSpPr>
        <p:spPr>
          <a:xfrm>
            <a:off x="600000" y="1180000"/>
            <a:ext cx="3300000" cy="43000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8000">
            <a:solidFill>
              <a:srgbClr val="94A3B8"/>
            </a:solidFill>
          </a:ln>
        </p:spPr>
        <p:txBody>
          <a:bodyPr/>
          <a:lstStyle/>
          <a:p/>
        </p:txBody>
      </p:sp>
      <p:sp>
        <p:nvSpPr>
          <p:cNvPr id="12" name="R_12"/>
          <p:cNvSpPr/>
          <p:nvPr/>
        </p:nvSpPr>
        <p:spPr>
          <a:xfrm>
            <a:off x="620000" y="1200000"/>
            <a:ext cx="3260000" cy="6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B_13"/>
          <p:cNvSpPr txBox="1"/>
          <p:nvPr/>
        </p:nvSpPr>
        <p:spPr>
          <a:xfrm>
            <a:off x="680000" y="1300000"/>
            <a:ext cx="314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IN" sz="1200" b="1" dirty="0">
                <a:solidFill>
                  <a:srgbClr val="1E3A8A"/>
                </a:solidFill>
              </a:rPr>
              <a:t>Tier 1: Client Layer (Web)</a:t>
            </a:r>
          </a:p>
        </p:txBody>
      </p:sp>
      <p:sp>
        <p:nvSpPr>
          <p:cNvPr id="14" name="TB_14"/>
          <p:cNvSpPr txBox="1"/>
          <p:nvPr/>
        </p:nvSpPr>
        <p:spPr>
          <a:xfrm>
            <a:off x="680000" y="1760000"/>
            <a:ext cx="314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IN" sz="950" b="1" dirty="0">
                <a:solidFill>
                  <a:srgbClr val="2563EB"/>
                </a:solidFill>
              </a:rPr>
              <a:t>Modular Vanilla JavaScript (ES6+)</a:t>
            </a:r>
          </a:p>
        </p:txBody>
      </p:sp>
      <p:sp>
        <p:nvSpPr>
          <p:cNvPr id="15" name="TB_15"/>
          <p:cNvSpPr txBox="1"/>
          <p:nvPr/>
        </p:nvSpPr>
        <p:spPr>
          <a:xfrm>
            <a:off x="680000" y="2180000"/>
            <a:ext cx="3140000" cy="32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2563EB"/>
              </a:buClr>
            </a:pPr>
            <a:r>
              <a:rPr lang="en-IN" sz="1000" dirty="0">
                <a:solidFill>
                  <a:srgbClr val="334155"/>
                </a:solidFill>
              </a:rPr>
              <a:t>Services (api.js, expenseService.js)</a:t>
            </a:r>
          </a:p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2563EB"/>
              </a:buClr>
            </a:pPr>
            <a:r>
              <a:rPr lang="en-IN" sz="1000" dirty="0">
                <a:solidFill>
                  <a:srgbClr val="334155"/>
                </a:solidFill>
              </a:rPr>
              <a:t>Views (expenseList, charts, modals)</a:t>
            </a:r>
          </a:p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2563EB"/>
              </a:buClr>
            </a:pPr>
            <a:r>
              <a:rPr lang="en-IN" sz="1000" dirty="0">
                <a:solidFill>
                  <a:srgbClr val="334155"/>
                </a:solidFill>
              </a:rPr>
              <a:t>Design Tokens (tokens.css, base.css)</a:t>
            </a:r>
          </a:p>
        </p:txBody>
      </p:sp>
      <p:sp>
        <p:nvSpPr>
          <p:cNvPr id="16" name="TB_16"/>
          <p:cNvSpPr txBox="1"/>
          <p:nvPr/>
        </p:nvSpPr>
        <p:spPr>
          <a:xfrm>
            <a:off x="4020000" y="2980000"/>
            <a:ext cx="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IN" sz="2200" b="1" dirty="0">
                <a:solidFill>
                  <a:srgbClr val="D97706"/>
                </a:solidFill>
              </a:rPr>
              <a:t>➔</a:t>
            </a:r>
          </a:p>
        </p:txBody>
      </p:sp>
      <p:sp>
        <p:nvSpPr>
          <p:cNvPr id="17" name="R_17"/>
          <p:cNvSpPr/>
          <p:nvPr/>
        </p:nvSpPr>
        <p:spPr>
          <a:xfrm>
            <a:off x="4446000" y="1180000"/>
            <a:ext cx="3300000" cy="43000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8000">
            <a:solidFill>
              <a:srgbClr val="94A3B8"/>
            </a:solidFill>
          </a:ln>
        </p:spPr>
        <p:txBody>
          <a:bodyPr/>
          <a:lstStyle/>
          <a:p/>
        </p:txBody>
      </p:sp>
      <p:sp>
        <p:nvSpPr>
          <p:cNvPr id="18" name="R_18"/>
          <p:cNvSpPr/>
          <p:nvPr/>
        </p:nvSpPr>
        <p:spPr>
          <a:xfrm>
            <a:off x="4466000" y="1200000"/>
            <a:ext cx="3260000" cy="6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B_19"/>
          <p:cNvSpPr txBox="1"/>
          <p:nvPr/>
        </p:nvSpPr>
        <p:spPr>
          <a:xfrm>
            <a:off x="4526000" y="1300000"/>
            <a:ext cx="314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IN" sz="1200" b="1" dirty="0">
                <a:solidFill>
                  <a:srgbClr val="1E3A8A"/>
                </a:solidFill>
              </a:rPr>
              <a:t>Tier 2: Application Layer (API)</a:t>
            </a:r>
          </a:p>
        </p:txBody>
      </p:sp>
      <p:sp>
        <p:nvSpPr>
          <p:cNvPr id="20" name="TB_20"/>
          <p:cNvSpPr txBox="1"/>
          <p:nvPr/>
        </p:nvSpPr>
        <p:spPr>
          <a:xfrm>
            <a:off x="4526000" y="1760000"/>
            <a:ext cx="314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IN" sz="950" b="1" dirty="0">
                <a:solidFill>
                  <a:srgbClr val="2563EB"/>
                </a:solidFill>
              </a:rPr>
              <a:t>FastAPI ASGI Server (Python 3.10+)</a:t>
            </a:r>
          </a:p>
        </p:txBody>
      </p:sp>
      <p:sp>
        <p:nvSpPr>
          <p:cNvPr id="21" name="TB_21"/>
          <p:cNvSpPr txBox="1"/>
          <p:nvPr/>
        </p:nvSpPr>
        <p:spPr>
          <a:xfrm>
            <a:off x="4526000" y="2180000"/>
            <a:ext cx="3140000" cy="32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2563EB"/>
              </a:buClr>
            </a:pPr>
            <a:r>
              <a:rPr lang="en-IN" sz="1000" dirty="0">
                <a:solidFill>
                  <a:srgbClr val="334155"/>
                </a:solidFill>
              </a:rPr>
              <a:t>Domain Routers (/auth, /expenses, /income)</a:t>
            </a:r>
          </a:p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2563EB"/>
              </a:buClr>
            </a:pPr>
            <a:r>
              <a:rPr lang="en-IN" sz="1000" dirty="0">
                <a:solidFill>
                  <a:srgbClr val="334155"/>
                </a:solidFill>
              </a:rPr>
              <a:t>Pydantic v2 Request Validation</a:t>
            </a:r>
          </a:p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2563EB"/>
              </a:buClr>
            </a:pPr>
            <a:r>
              <a:rPr lang="en-IN" sz="1000" dirty="0">
                <a:solidFill>
                  <a:srgbClr val="334155"/>
                </a:solidFill>
              </a:rPr>
              <a:t>Stateless JWT Auth &amp; Bcrypt Security</a:t>
            </a:r>
          </a:p>
        </p:txBody>
      </p:sp>
      <p:sp>
        <p:nvSpPr>
          <p:cNvPr id="22" name="TB_22"/>
          <p:cNvSpPr txBox="1"/>
          <p:nvPr/>
        </p:nvSpPr>
        <p:spPr>
          <a:xfrm>
            <a:off x="7866000" y="2980000"/>
            <a:ext cx="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IN" sz="2200" b="1" dirty="0">
                <a:solidFill>
                  <a:srgbClr val="D97706"/>
                </a:solidFill>
              </a:rPr>
              <a:t>➔</a:t>
            </a:r>
          </a:p>
        </p:txBody>
      </p:sp>
      <p:sp>
        <p:nvSpPr>
          <p:cNvPr id="23" name="R_23"/>
          <p:cNvSpPr/>
          <p:nvPr/>
        </p:nvSpPr>
        <p:spPr>
          <a:xfrm>
            <a:off x="8292000" y="1180000"/>
            <a:ext cx="3300000" cy="43000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8000">
            <a:solidFill>
              <a:srgbClr val="94A3B8"/>
            </a:solidFill>
          </a:ln>
        </p:spPr>
        <p:txBody>
          <a:bodyPr/>
          <a:lstStyle/>
          <a:p/>
        </p:txBody>
      </p:sp>
      <p:sp>
        <p:nvSpPr>
          <p:cNvPr id="24" name="R_24"/>
          <p:cNvSpPr/>
          <p:nvPr/>
        </p:nvSpPr>
        <p:spPr>
          <a:xfrm>
            <a:off x="8312000" y="1200000"/>
            <a:ext cx="3260000" cy="6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TB_25"/>
          <p:cNvSpPr txBox="1"/>
          <p:nvPr/>
        </p:nvSpPr>
        <p:spPr>
          <a:xfrm>
            <a:off x="8372000" y="1300000"/>
            <a:ext cx="314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IN" sz="1200" b="1" dirty="0">
                <a:solidFill>
                  <a:srgbClr val="1E3A8A"/>
                </a:solidFill>
              </a:rPr>
              <a:t>Tier 3: Database Layer (Storage)</a:t>
            </a:r>
          </a:p>
        </p:txBody>
      </p:sp>
      <p:sp>
        <p:nvSpPr>
          <p:cNvPr id="26" name="TB_26"/>
          <p:cNvSpPr txBox="1"/>
          <p:nvPr/>
        </p:nvSpPr>
        <p:spPr>
          <a:xfrm>
            <a:off x="8372000" y="1760000"/>
            <a:ext cx="314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IN" sz="950" b="1" dirty="0">
                <a:solidFill>
                  <a:srgbClr val="2563EB"/>
                </a:solidFill>
              </a:rPr>
              <a:t>SQLite via SQLAlchemy 2.0 ORM</a:t>
            </a:r>
          </a:p>
        </p:txBody>
      </p:sp>
      <p:sp>
        <p:nvSpPr>
          <p:cNvPr id="27" name="TB_27"/>
          <p:cNvSpPr txBox="1"/>
          <p:nvPr/>
        </p:nvSpPr>
        <p:spPr>
          <a:xfrm>
            <a:off x="8372000" y="2180000"/>
            <a:ext cx="3140000" cy="32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2563EB"/>
              </a:buClr>
            </a:pPr>
            <a:r>
              <a:rPr lang="en-IN" sz="1000" dirty="0">
                <a:solidFill>
                  <a:srgbClr val="334155"/>
                </a:solidFill>
              </a:rPr>
              <a:t>Normalized Relational Tables (Users, Transactions)</a:t>
            </a:r>
          </a:p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2563EB"/>
              </a:buClr>
            </a:pPr>
            <a:r>
              <a:rPr lang="en-IN" sz="1000" dirty="0">
                <a:solidFill>
                  <a:srgbClr val="334155"/>
                </a:solidFill>
              </a:rPr>
              <a:t>Foreign Key Cascade Constraints</a:t>
            </a:r>
          </a:p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2563EB"/>
              </a:buClr>
            </a:pPr>
            <a:r>
              <a:rPr lang="en-IN" sz="1000" dirty="0">
                <a:solidFill>
                  <a:srgbClr val="334155"/>
                </a:solidFill>
              </a:rPr>
              <a:t>ACID Compliance &amp; Instant Querying</a:t>
            </a:r>
          </a:p>
        </p:txBody>
      </p:sp>
      <p:sp>
        <p:nvSpPr>
          <p:cNvPr id="28" name="R_28"/>
          <p:cNvSpPr/>
          <p:nvPr/>
        </p:nvSpPr>
        <p:spPr>
          <a:xfrm>
            <a:off x="600000" y="5650000"/>
            <a:ext cx="10992000" cy="55000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12000">
            <a:solidFill>
              <a:srgbClr val="BFDBFE"/>
            </a:solidFill>
          </a:ln>
        </p:spPr>
        <p:txBody>
          <a:bodyPr/>
          <a:lstStyle/>
          <a:p/>
        </p:txBody>
      </p:sp>
      <p:sp>
        <p:nvSpPr>
          <p:cNvPr id="29" name="TB_29"/>
          <p:cNvSpPr txBox="1"/>
          <p:nvPr/>
        </p:nvSpPr>
        <p:spPr>
          <a:xfrm>
            <a:off x="700000" y="5650000"/>
            <a:ext cx="10792000" cy="55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IN" sz="1000" b="1" dirty="0">
                <a:solidFill>
                  <a:srgbClr val="1E3A8A"/>
                </a:solidFill>
              </a:rPr>
              <a:t>💡 Clean Architecture: Presentation, Business Logic &amp; Database are strictly decoupled (&lt;500 LOC/file).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_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_3"/>
          <p:cNvSpPr/>
          <p:nvPr/>
        </p:nvSpPr>
        <p:spPr>
          <a:xfrm>
            <a:off x="0" y="0"/>
            <a:ext cx="12192000" cy="95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_4"/>
          <p:cNvSpPr/>
          <p:nvPr/>
        </p:nvSpPr>
        <p:spPr>
          <a:xfrm>
            <a:off x="0" y="950000"/>
            <a:ext cx="12192000" cy="2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pic>
        <p:nvPicPr>
          <p:cNvPr id="5" name="HeaderLogo_5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280000" y="110000"/>
            <a:ext cx="730000" cy="730000"/>
          </a:xfrm>
          <a:prstGeom prst="rect">
            <a:avLst/>
          </a:prstGeom>
        </p:spPr>
      </p:pic>
      <p:sp>
        <p:nvSpPr>
          <p:cNvPr id="6" name="TB_6"/>
          <p:cNvSpPr txBox="1"/>
          <p:nvPr/>
        </p:nvSpPr>
        <p:spPr>
          <a:xfrm>
            <a:off x="1150000" y="140000"/>
            <a:ext cx="8992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850" b="1" dirty="0">
                <a:solidFill>
                  <a:srgbClr val="FCD34D"/>
                </a:solidFill>
              </a:rPr>
              <a:t>TECHNOLOGY STACK</a:t>
            </a:r>
          </a:p>
        </p:txBody>
      </p:sp>
      <p:sp>
        <p:nvSpPr>
          <p:cNvPr id="7" name="TB_7"/>
          <p:cNvSpPr txBox="1"/>
          <p:nvPr/>
        </p:nvSpPr>
        <p:spPr>
          <a:xfrm>
            <a:off x="1150000" y="390000"/>
            <a:ext cx="8992000" cy="48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2000" b="1" dirty="0">
                <a:solidFill>
                  <a:srgbClr val="FFFFFF"/>
                </a:solidFill>
              </a:rPr>
              <a:t>Core Technology Stack</a:t>
            </a:r>
          </a:p>
        </p:txBody>
      </p:sp>
      <p:sp>
        <p:nvSpPr>
          <p:cNvPr id="8" name="TB_8"/>
          <p:cNvSpPr txBox="1"/>
          <p:nvPr/>
        </p:nvSpPr>
        <p:spPr>
          <a:xfrm>
            <a:off x="10392000" y="260000"/>
            <a:ext cx="15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r"/>
            <a:r>
              <a:rPr lang="en-IN" sz="1100" b="1" dirty="0">
                <a:solidFill>
                  <a:srgbClr val="BFDBFE"/>
                </a:solidFill>
              </a:rPr>
              <a:t>06 / 16</a:t>
            </a:r>
          </a:p>
        </p:txBody>
      </p:sp>
      <p:sp>
        <p:nvSpPr>
          <p:cNvPr id="9" name="R_9"/>
          <p:cNvSpPr/>
          <p:nvPr/>
        </p:nvSpPr>
        <p:spPr>
          <a:xfrm>
            <a:off x="0" y="6518000"/>
            <a:ext cx="12192000" cy="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B_10"/>
          <p:cNvSpPr txBox="1"/>
          <p:nvPr/>
        </p:nvSpPr>
        <p:spPr>
          <a:xfrm>
            <a:off x="400000" y="6538000"/>
            <a:ext cx="11392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IN" sz="850" dirty="0">
                <a:solidFill>
                  <a:srgbClr val="64748B"/>
                </a:solidFill>
              </a:rPr>
              <a:t>Expenso Project  |  Fareed Khilji (23EA0CA030)  |  AIETM Jaipur (2025–26)</a:t>
            </a:r>
          </a:p>
        </p:txBody>
      </p:sp>
      <p:sp>
        <p:nvSpPr>
          <p:cNvPr id="11" name="R_11"/>
          <p:cNvSpPr/>
          <p:nvPr/>
        </p:nvSpPr>
        <p:spPr>
          <a:xfrm>
            <a:off x="600000" y="1180000"/>
            <a:ext cx="5250000" cy="23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2" name="R_12"/>
          <p:cNvSpPr/>
          <p:nvPr/>
        </p:nvSpPr>
        <p:spPr>
          <a:xfrm>
            <a:off x="620000" y="1200000"/>
            <a:ext cx="5210000" cy="6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B_13"/>
          <p:cNvSpPr txBox="1"/>
          <p:nvPr/>
        </p:nvSpPr>
        <p:spPr>
          <a:xfrm>
            <a:off x="720000" y="1300000"/>
            <a:ext cx="501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1300" b="1" dirty="0">
                <a:solidFill>
                  <a:srgbClr val="1E3A8A"/>
                </a:solidFill>
              </a:rPr>
              <a:t>🐍 Backend Engine</a:t>
            </a:r>
          </a:p>
        </p:txBody>
      </p:sp>
      <p:sp>
        <p:nvSpPr>
          <p:cNvPr id="14" name="TB_14"/>
          <p:cNvSpPr txBox="1"/>
          <p:nvPr/>
        </p:nvSpPr>
        <p:spPr>
          <a:xfrm>
            <a:off x="720000" y="1720000"/>
            <a:ext cx="501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1E3A8A"/>
              </a:buClr>
            </a:pPr>
            <a:r>
              <a:rPr lang="en-IN" sz="1050" dirty="0">
                <a:solidFill>
                  <a:srgbClr val="334155"/>
                </a:solidFill>
              </a:rPr>
              <a:t>Python 3.10+ (Core Language)</a:t>
            </a:r>
          </a:p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1E3A8A"/>
              </a:buClr>
            </a:pPr>
            <a:r>
              <a:rPr lang="en-IN" sz="1050" dirty="0">
                <a:solidFill>
                  <a:srgbClr val="334155"/>
                </a:solidFill>
              </a:rPr>
              <a:t>FastAPI (Async ASGI Framework)</a:t>
            </a:r>
          </a:p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1E3A8A"/>
              </a:buClr>
            </a:pPr>
            <a:r>
              <a:rPr lang="en-IN" sz="1050" dirty="0">
                <a:solidFill>
                  <a:srgbClr val="334155"/>
                </a:solidFill>
              </a:rPr>
              <a:t>Uvicorn (Production Web Server)</a:t>
            </a:r>
          </a:p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1E3A8A"/>
              </a:buClr>
            </a:pPr>
            <a:r>
              <a:rPr lang="en-IN" sz="1050" dirty="0">
                <a:solidFill>
                  <a:srgbClr val="334155"/>
                </a:solidFill>
              </a:rPr>
              <a:t>Pydantic v2 (Data Validation)</a:t>
            </a:r>
          </a:p>
        </p:txBody>
      </p:sp>
      <p:sp>
        <p:nvSpPr>
          <p:cNvPr id="15" name="R_15"/>
          <p:cNvSpPr/>
          <p:nvPr/>
        </p:nvSpPr>
        <p:spPr>
          <a:xfrm>
            <a:off x="6350000" y="1180000"/>
            <a:ext cx="5250000" cy="23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6" name="R_16"/>
          <p:cNvSpPr/>
          <p:nvPr/>
        </p:nvSpPr>
        <p:spPr>
          <a:xfrm>
            <a:off x="6370000" y="1200000"/>
            <a:ext cx="5210000" cy="6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B_17"/>
          <p:cNvSpPr txBox="1"/>
          <p:nvPr/>
        </p:nvSpPr>
        <p:spPr>
          <a:xfrm>
            <a:off x="6470000" y="1300000"/>
            <a:ext cx="501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1300" b="1" dirty="0">
                <a:solidFill>
                  <a:srgbClr val="1E3A8A"/>
                </a:solidFill>
              </a:rPr>
              <a:t>🗄️ Database &amp; ORM</a:t>
            </a:r>
          </a:p>
        </p:txBody>
      </p:sp>
      <p:sp>
        <p:nvSpPr>
          <p:cNvPr id="18" name="TB_18"/>
          <p:cNvSpPr txBox="1"/>
          <p:nvPr/>
        </p:nvSpPr>
        <p:spPr>
          <a:xfrm>
            <a:off x="6470000" y="1720000"/>
            <a:ext cx="501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1E3A8A"/>
              </a:buClr>
            </a:pPr>
            <a:r>
              <a:rPr lang="en-IN" sz="1050" dirty="0">
                <a:solidFill>
                  <a:srgbClr val="334155"/>
                </a:solidFill>
              </a:rPr>
              <a:t>SQLite (Relational Database)</a:t>
            </a:r>
          </a:p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1E3A8A"/>
              </a:buClr>
            </a:pPr>
            <a:r>
              <a:rPr lang="en-IN" sz="1050" dirty="0">
                <a:solidFill>
                  <a:srgbClr val="334155"/>
                </a:solidFill>
              </a:rPr>
              <a:t>SQLAlchemy 2.0 (Modern ORM)</a:t>
            </a:r>
          </a:p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1E3A8A"/>
              </a:buClr>
            </a:pPr>
            <a:r>
              <a:rPr lang="en-IN" sz="1050" dirty="0">
                <a:solidFill>
                  <a:srgbClr val="334155"/>
                </a:solidFill>
              </a:rPr>
              <a:t>Foreign Key Cascading Rules</a:t>
            </a:r>
          </a:p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1E3A8A"/>
              </a:buClr>
            </a:pPr>
            <a:r>
              <a:rPr lang="en-IN" sz="1050" dirty="0">
                <a:solidFill>
                  <a:srgbClr val="334155"/>
                </a:solidFill>
              </a:rPr>
              <a:t>Automated Schema Migrations</a:t>
            </a:r>
          </a:p>
        </p:txBody>
      </p:sp>
      <p:sp>
        <p:nvSpPr>
          <p:cNvPr id="19" name="R_19"/>
          <p:cNvSpPr/>
          <p:nvPr/>
        </p:nvSpPr>
        <p:spPr>
          <a:xfrm>
            <a:off x="600000" y="3800000"/>
            <a:ext cx="5250000" cy="23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20" name="R_20"/>
          <p:cNvSpPr/>
          <p:nvPr/>
        </p:nvSpPr>
        <p:spPr>
          <a:xfrm>
            <a:off x="620000" y="3820000"/>
            <a:ext cx="5210000" cy="6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B_21"/>
          <p:cNvSpPr txBox="1"/>
          <p:nvPr/>
        </p:nvSpPr>
        <p:spPr>
          <a:xfrm>
            <a:off x="720000" y="3920000"/>
            <a:ext cx="501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1300" b="1" dirty="0">
                <a:solidFill>
                  <a:srgbClr val="1E3A8A"/>
                </a:solidFill>
              </a:rPr>
              <a:t>🎨 Frontend &amp; UI</a:t>
            </a:r>
          </a:p>
        </p:txBody>
      </p:sp>
      <p:sp>
        <p:nvSpPr>
          <p:cNvPr id="22" name="TB_22"/>
          <p:cNvSpPr txBox="1"/>
          <p:nvPr/>
        </p:nvSpPr>
        <p:spPr>
          <a:xfrm>
            <a:off x="720000" y="4340000"/>
            <a:ext cx="501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1E3A8A"/>
              </a:buClr>
            </a:pPr>
            <a:r>
              <a:rPr lang="en-IN" sz="1050" dirty="0">
                <a:solidFill>
                  <a:srgbClr val="334155"/>
                </a:solidFill>
              </a:rPr>
              <a:t>Modular Vanilla JavaScript (ES6+)</a:t>
            </a:r>
          </a:p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1E3A8A"/>
              </a:buClr>
            </a:pPr>
            <a:r>
              <a:rPr lang="en-IN" sz="1050" dirty="0">
                <a:solidFill>
                  <a:srgbClr val="334155"/>
                </a:solidFill>
              </a:rPr>
              <a:t>CSS3 Custom Properties (Tokens)</a:t>
            </a:r>
          </a:p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1E3A8A"/>
              </a:buClr>
            </a:pPr>
            <a:r>
              <a:rPr lang="en-IN" sz="1050" dirty="0">
                <a:solidFill>
                  <a:srgbClr val="334155"/>
                </a:solidFill>
              </a:rPr>
              <a:t>Chart.js (Interactive Charts)</a:t>
            </a:r>
          </a:p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1E3A8A"/>
              </a:buClr>
            </a:pPr>
            <a:r>
              <a:rPr lang="en-IN" sz="1050" dirty="0">
                <a:solidFill>
                  <a:srgbClr val="334155"/>
                </a:solidFill>
              </a:rPr>
              <a:t>Zero NPM / Webpack Build Bloat</a:t>
            </a:r>
          </a:p>
        </p:txBody>
      </p:sp>
      <p:sp>
        <p:nvSpPr>
          <p:cNvPr id="23" name="R_23"/>
          <p:cNvSpPr/>
          <p:nvPr/>
        </p:nvSpPr>
        <p:spPr>
          <a:xfrm>
            <a:off x="6350000" y="3800000"/>
            <a:ext cx="5250000" cy="23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24" name="R_24"/>
          <p:cNvSpPr/>
          <p:nvPr/>
        </p:nvSpPr>
        <p:spPr>
          <a:xfrm>
            <a:off x="6370000" y="3820000"/>
            <a:ext cx="5210000" cy="6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TB_25"/>
          <p:cNvSpPr txBox="1"/>
          <p:nvPr/>
        </p:nvSpPr>
        <p:spPr>
          <a:xfrm>
            <a:off x="6470000" y="3920000"/>
            <a:ext cx="501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1300" b="1" dirty="0">
                <a:solidFill>
                  <a:srgbClr val="1E3A8A"/>
                </a:solidFill>
              </a:rPr>
              <a:t>🛡️ Security &amp; Dev</a:t>
            </a:r>
          </a:p>
        </p:txBody>
      </p:sp>
      <p:sp>
        <p:nvSpPr>
          <p:cNvPr id="26" name="TB_26"/>
          <p:cNvSpPr txBox="1"/>
          <p:nvPr/>
        </p:nvSpPr>
        <p:spPr>
          <a:xfrm>
            <a:off x="6470000" y="4340000"/>
            <a:ext cx="501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1E3A8A"/>
              </a:buClr>
            </a:pPr>
            <a:r>
              <a:rPr lang="en-IN" sz="1050" dirty="0">
                <a:solidFill>
                  <a:srgbClr val="334155"/>
                </a:solidFill>
              </a:rPr>
              <a:t>Passlib &amp; Bcrypt (Password Hashing)</a:t>
            </a:r>
          </a:p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1E3A8A"/>
              </a:buClr>
            </a:pPr>
            <a:r>
              <a:rPr lang="en-IN" sz="1050" dirty="0">
                <a:solidFill>
                  <a:srgbClr val="334155"/>
                </a:solidFill>
              </a:rPr>
              <a:t>python-jose (JWT Token Standards)</a:t>
            </a:r>
          </a:p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1E3A8A"/>
              </a:buClr>
            </a:pPr>
            <a:r>
              <a:rPr lang="en-IN" sz="1050" dirty="0">
                <a:solidFill>
                  <a:srgbClr val="334155"/>
                </a:solidFill>
              </a:rPr>
              <a:t>Turborepo Monorepo Architecture</a:t>
            </a:r>
          </a:p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1E3A8A"/>
              </a:buClr>
            </a:pPr>
            <a:r>
              <a:rPr lang="en-IN" sz="1050" dirty="0">
                <a:solidFill>
                  <a:srgbClr val="334155"/>
                </a:solidFill>
              </a:rPr>
              <a:t>Clean Architecture (&lt;500 LOC/file)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_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_3"/>
          <p:cNvSpPr/>
          <p:nvPr/>
        </p:nvSpPr>
        <p:spPr>
          <a:xfrm>
            <a:off x="0" y="0"/>
            <a:ext cx="12192000" cy="95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_4"/>
          <p:cNvSpPr/>
          <p:nvPr/>
        </p:nvSpPr>
        <p:spPr>
          <a:xfrm>
            <a:off x="0" y="950000"/>
            <a:ext cx="12192000" cy="2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pic>
        <p:nvPicPr>
          <p:cNvPr id="5" name="HeaderLogo_5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280000" y="110000"/>
            <a:ext cx="730000" cy="730000"/>
          </a:xfrm>
          <a:prstGeom prst="rect">
            <a:avLst/>
          </a:prstGeom>
        </p:spPr>
      </p:pic>
      <p:sp>
        <p:nvSpPr>
          <p:cNvPr id="6" name="TB_6"/>
          <p:cNvSpPr txBox="1"/>
          <p:nvPr/>
        </p:nvSpPr>
        <p:spPr>
          <a:xfrm>
            <a:off x="1150000" y="140000"/>
            <a:ext cx="8992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850" b="1" dirty="0">
                <a:solidFill>
                  <a:srgbClr val="FCD34D"/>
                </a:solidFill>
              </a:rPr>
              <a:t>DATABASE DESIGN</a:t>
            </a:r>
          </a:p>
        </p:txBody>
      </p:sp>
      <p:sp>
        <p:nvSpPr>
          <p:cNvPr id="7" name="TB_7"/>
          <p:cNvSpPr txBox="1"/>
          <p:nvPr/>
        </p:nvSpPr>
        <p:spPr>
          <a:xfrm>
            <a:off x="1150000" y="390000"/>
            <a:ext cx="8992000" cy="48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2000" b="1" dirty="0">
                <a:solidFill>
                  <a:srgbClr val="FFFFFF"/>
                </a:solidFill>
              </a:rPr>
              <a:t>Relational Schema &amp; Data Modeling</a:t>
            </a:r>
          </a:p>
        </p:txBody>
      </p:sp>
      <p:sp>
        <p:nvSpPr>
          <p:cNvPr id="8" name="TB_8"/>
          <p:cNvSpPr txBox="1"/>
          <p:nvPr/>
        </p:nvSpPr>
        <p:spPr>
          <a:xfrm>
            <a:off x="10392000" y="260000"/>
            <a:ext cx="15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r"/>
            <a:r>
              <a:rPr lang="en-IN" sz="1100" b="1" dirty="0">
                <a:solidFill>
                  <a:srgbClr val="BFDBFE"/>
                </a:solidFill>
              </a:rPr>
              <a:t>07 / 16</a:t>
            </a:r>
          </a:p>
        </p:txBody>
      </p:sp>
      <p:sp>
        <p:nvSpPr>
          <p:cNvPr id="9" name="R_9"/>
          <p:cNvSpPr/>
          <p:nvPr/>
        </p:nvSpPr>
        <p:spPr>
          <a:xfrm>
            <a:off x="0" y="6518000"/>
            <a:ext cx="12192000" cy="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B_10"/>
          <p:cNvSpPr txBox="1"/>
          <p:nvPr/>
        </p:nvSpPr>
        <p:spPr>
          <a:xfrm>
            <a:off x="400000" y="6538000"/>
            <a:ext cx="11392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IN" sz="850" dirty="0">
                <a:solidFill>
                  <a:srgbClr val="64748B"/>
                </a:solidFill>
              </a:rPr>
              <a:t>Expenso Project  |  Fareed Khilji (23EA0CA030)  |  AIETM Jaipur (2025–26)</a:t>
            </a:r>
          </a:p>
        </p:txBody>
      </p:sp>
      <p:sp>
        <p:nvSpPr>
          <p:cNvPr id="11" name="R_11"/>
          <p:cNvSpPr/>
          <p:nvPr/>
        </p:nvSpPr>
        <p:spPr>
          <a:xfrm>
            <a:off x="600000" y="1180000"/>
            <a:ext cx="5250000" cy="48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8000">
            <a:solidFill>
              <a:srgbClr val="93C5FD"/>
            </a:solidFill>
          </a:ln>
        </p:spPr>
        <p:txBody>
          <a:bodyPr/>
          <a:lstStyle/>
          <a:p/>
        </p:txBody>
      </p:sp>
      <p:sp>
        <p:nvSpPr>
          <p:cNvPr id="12" name="R_12"/>
          <p:cNvSpPr/>
          <p:nvPr/>
        </p:nvSpPr>
        <p:spPr>
          <a:xfrm>
            <a:off x="620000" y="1200000"/>
            <a:ext cx="5210000" cy="6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B_13"/>
          <p:cNvSpPr txBox="1"/>
          <p:nvPr/>
        </p:nvSpPr>
        <p:spPr>
          <a:xfrm>
            <a:off x="720000" y="1300000"/>
            <a:ext cx="501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1250" b="1" dirty="0">
                <a:solidFill>
                  <a:srgbClr val="1E3A8A"/>
                </a:solidFill>
              </a:rPr>
              <a:t>👤 Table: users (Authentication &amp; Profile)</a:t>
            </a:r>
          </a:p>
        </p:txBody>
      </p:sp>
      <p:sp>
        <p:nvSpPr>
          <p:cNvPr id="14" name="TB_14"/>
          <p:cNvSpPr txBox="1"/>
          <p:nvPr/>
        </p:nvSpPr>
        <p:spPr>
          <a:xfrm>
            <a:off x="720000" y="1740000"/>
            <a:ext cx="5010000" cy="415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 algn="l">
              <a:spcBef>
                <a:spcPts val="50"/>
              </a:spcBef>
            </a:pPr>
            <a:r>
              <a:rPr lang="en-IN" sz="1000" dirty="0">
                <a:solidFill>
                  <a:srgbClr val="334155"/>
                </a:solidFill>
              </a:rPr>
              <a:t>• id: INTEGER — PK, Autoincrement</a:t>
            </a:r>
          </a:p>
          <a:p>
            <a:pPr algn="l">
              <a:spcBef>
                <a:spcPts val="50"/>
              </a:spcBef>
            </a:pPr>
            <a:r>
              <a:rPr lang="en-IN" sz="1000" dirty="0">
                <a:solidFill>
                  <a:srgbClr val="334155"/>
                </a:solidFill>
              </a:rPr>
              <a:t>• username: VARCHAR(50) — Unique, Indexed</a:t>
            </a:r>
          </a:p>
          <a:p>
            <a:pPr algn="l">
              <a:spcBef>
                <a:spcPts val="50"/>
              </a:spcBef>
            </a:pPr>
            <a:r>
              <a:rPr lang="en-IN" sz="1000" dirty="0">
                <a:solidFill>
                  <a:srgbClr val="334155"/>
                </a:solidFill>
              </a:rPr>
              <a:t>• email: VARCHAR(100) — Unique, Indexed</a:t>
            </a:r>
          </a:p>
          <a:p>
            <a:pPr algn="l">
              <a:spcBef>
                <a:spcPts val="50"/>
              </a:spcBef>
            </a:pPr>
            <a:r>
              <a:rPr lang="en-IN" sz="1000" dirty="0">
                <a:solidFill>
                  <a:srgbClr val="334155"/>
                </a:solidFill>
              </a:rPr>
              <a:t>• full_name: VARCHAR(100) — User display name</a:t>
            </a:r>
          </a:p>
          <a:p>
            <a:pPr algn="l">
              <a:spcBef>
                <a:spcPts val="50"/>
              </a:spcBef>
            </a:pPr>
            <a:r>
              <a:rPr lang="en-IN" sz="1000" dirty="0">
                <a:solidFill>
                  <a:srgbClr val="334155"/>
                </a:solidFill>
              </a:rPr>
              <a:t>• hashed_password: VARCHAR(255) — Bcrypt Salted Hash</a:t>
            </a:r>
          </a:p>
          <a:p>
            <a:pPr algn="l">
              <a:spcBef>
                <a:spcPts val="50"/>
              </a:spcBef>
            </a:pPr>
            <a:r>
              <a:rPr lang="en-IN" sz="1000" dirty="0">
                <a:solidFill>
                  <a:srgbClr val="334155"/>
                </a:solidFill>
              </a:rPr>
              <a:t>• created_at: TIMESTAMP — Default UTC now</a:t>
            </a:r>
          </a:p>
        </p:txBody>
      </p:sp>
      <p:sp>
        <p:nvSpPr>
          <p:cNvPr id="15" name="R_15"/>
          <p:cNvSpPr/>
          <p:nvPr/>
        </p:nvSpPr>
        <p:spPr>
          <a:xfrm>
            <a:off x="6350000" y="1180000"/>
            <a:ext cx="5250000" cy="48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8000">
            <a:solidFill>
              <a:srgbClr val="C4B5FD"/>
            </a:solidFill>
          </a:ln>
        </p:spPr>
        <p:txBody>
          <a:bodyPr/>
          <a:lstStyle/>
          <a:p/>
        </p:txBody>
      </p:sp>
      <p:sp>
        <p:nvSpPr>
          <p:cNvPr id="16" name="R_16"/>
          <p:cNvSpPr/>
          <p:nvPr/>
        </p:nvSpPr>
        <p:spPr>
          <a:xfrm>
            <a:off x="6370000" y="1200000"/>
            <a:ext cx="5210000" cy="60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B_17"/>
          <p:cNvSpPr txBox="1"/>
          <p:nvPr/>
        </p:nvSpPr>
        <p:spPr>
          <a:xfrm>
            <a:off x="6470000" y="1300000"/>
            <a:ext cx="501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1250" b="1" dirty="0">
                <a:solidFill>
                  <a:srgbClr val="6D28D9"/>
                </a:solidFill>
              </a:rPr>
              <a:t>💳 Table: transactions (Expenses &amp; Incomes)</a:t>
            </a:r>
          </a:p>
        </p:txBody>
      </p:sp>
      <p:sp>
        <p:nvSpPr>
          <p:cNvPr id="18" name="TB_18"/>
          <p:cNvSpPr txBox="1"/>
          <p:nvPr/>
        </p:nvSpPr>
        <p:spPr>
          <a:xfrm>
            <a:off x="6470000" y="1740000"/>
            <a:ext cx="5010000" cy="415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 algn="l">
              <a:spcBef>
                <a:spcPts val="45"/>
              </a:spcBef>
            </a:pPr>
            <a:r>
              <a:rPr lang="en-IN" sz="1000" dirty="0">
                <a:solidFill>
                  <a:srgbClr val="334155"/>
                </a:solidFill>
              </a:rPr>
              <a:t>• id: INTEGER — PK, Autoincrement</a:t>
            </a:r>
          </a:p>
          <a:p>
            <a:pPr algn="l">
              <a:spcBef>
                <a:spcPts val="45"/>
              </a:spcBef>
            </a:pPr>
            <a:r>
              <a:rPr lang="en-IN" sz="1000" dirty="0">
                <a:solidFill>
                  <a:srgbClr val="334155"/>
                </a:solidFill>
              </a:rPr>
              <a:t>• user_id: INTEGER — FK -&gt; users.id (CASCADE)</a:t>
            </a:r>
          </a:p>
          <a:p>
            <a:pPr algn="l">
              <a:spcBef>
                <a:spcPts val="45"/>
              </a:spcBef>
            </a:pPr>
            <a:r>
              <a:rPr lang="en-IN" sz="1000" dirty="0">
                <a:solidFill>
                  <a:srgbClr val="334155"/>
                </a:solidFill>
              </a:rPr>
              <a:t>• type: VARCHAR(10) — 'expense' | 'income'</a:t>
            </a:r>
          </a:p>
          <a:p>
            <a:pPr algn="l">
              <a:spcBef>
                <a:spcPts val="45"/>
              </a:spcBef>
            </a:pPr>
            <a:r>
              <a:rPr lang="en-IN" sz="1000" dirty="0">
                <a:solidFill>
                  <a:srgbClr val="334155"/>
                </a:solidFill>
              </a:rPr>
              <a:t>• amount: FLOAT — Must be &gt; 0.0</a:t>
            </a:r>
          </a:p>
          <a:p>
            <a:pPr algn="l">
              <a:spcBef>
                <a:spcPts val="45"/>
              </a:spcBef>
            </a:pPr>
            <a:r>
              <a:rPr lang="en-IN" sz="1000" dirty="0">
                <a:solidFill>
                  <a:srgbClr val="334155"/>
                </a:solidFill>
              </a:rPr>
              <a:t>• category: VARCHAR(50) — Food, Travel, Bills, etc.</a:t>
            </a:r>
          </a:p>
          <a:p>
            <a:pPr algn="l">
              <a:spcBef>
                <a:spcPts val="45"/>
              </a:spcBef>
            </a:pPr>
            <a:r>
              <a:rPr lang="en-IN" sz="1000" dirty="0">
                <a:solidFill>
                  <a:srgbClr val="334155"/>
                </a:solidFill>
              </a:rPr>
              <a:t>• payment_mode: VARCHAR(30) — Default: 'UPI'</a:t>
            </a:r>
          </a:p>
          <a:p>
            <a:pPr algn="l">
              <a:spcBef>
                <a:spcPts val="45"/>
              </a:spcBef>
            </a:pPr>
            <a:r>
              <a:rPr lang="en-IN" sz="1000" dirty="0">
                <a:solidFill>
                  <a:srgbClr val="334155"/>
                </a:solidFill>
              </a:rPr>
              <a:t>• date: DATE — Transaction Date</a:t>
            </a:r>
          </a:p>
          <a:p>
            <a:pPr algn="l">
              <a:spcBef>
                <a:spcPts val="45"/>
              </a:spcBef>
            </a:pPr>
            <a:r>
              <a:rPr lang="en-IN" sz="1000" dirty="0">
                <a:solidFill>
                  <a:srgbClr val="334155"/>
                </a:solidFill>
              </a:rPr>
              <a:t>• description: TEXT — Optional memo/note</a:t>
            </a:r>
          </a:p>
        </p:txBody>
      </p:sp>
      <p:sp>
        <p:nvSpPr>
          <p:cNvPr id="19" name="R_19"/>
          <p:cNvSpPr/>
          <p:nvPr/>
        </p:nvSpPr>
        <p:spPr>
          <a:xfrm>
            <a:off x="3400000" y="6100000"/>
            <a:ext cx="5400000" cy="360000"/>
          </a:xfrm>
          <a:prstGeom prst="roundRect">
            <a:avLst>
              <a:gd name="adj" fmla="val 3000"/>
            </a:avLst>
          </a:prstGeom>
          <a:solidFill>
            <a:srgbClr val="FEF3C7"/>
          </a:solidFill>
          <a:ln w="12000">
            <a:solidFill>
              <a:srgbClr val="F59E0B"/>
            </a:solidFill>
          </a:ln>
        </p:spPr>
        <p:txBody>
          <a:bodyPr/>
          <a:lstStyle/>
          <a:p/>
        </p:txBody>
      </p:sp>
      <p:sp>
        <p:nvSpPr>
          <p:cNvPr id="20" name="TB_20"/>
          <p:cNvSpPr txBox="1"/>
          <p:nvPr/>
        </p:nvSpPr>
        <p:spPr>
          <a:xfrm>
            <a:off x="3400000" y="610000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IN" sz="950" b="1" dirty="0">
                <a:solidFill>
                  <a:srgbClr val="92400E"/>
                </a:solidFill>
              </a:rPr>
              <a:t>🔗 Foreign Key: transactions.user_id ➔ users.id [ON DELETE CASCADE]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_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_3"/>
          <p:cNvSpPr/>
          <p:nvPr/>
        </p:nvSpPr>
        <p:spPr>
          <a:xfrm>
            <a:off x="0" y="0"/>
            <a:ext cx="12192000" cy="95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_4"/>
          <p:cNvSpPr/>
          <p:nvPr/>
        </p:nvSpPr>
        <p:spPr>
          <a:xfrm>
            <a:off x="0" y="950000"/>
            <a:ext cx="12192000" cy="2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pic>
        <p:nvPicPr>
          <p:cNvPr id="5" name="HeaderLogo_5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280000" y="110000"/>
            <a:ext cx="730000" cy="730000"/>
          </a:xfrm>
          <a:prstGeom prst="rect">
            <a:avLst/>
          </a:prstGeom>
        </p:spPr>
      </p:pic>
      <p:sp>
        <p:nvSpPr>
          <p:cNvPr id="6" name="TB_6"/>
          <p:cNvSpPr txBox="1"/>
          <p:nvPr/>
        </p:nvSpPr>
        <p:spPr>
          <a:xfrm>
            <a:off x="1150000" y="140000"/>
            <a:ext cx="8992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850" b="1" dirty="0">
                <a:solidFill>
                  <a:srgbClr val="FCD34D"/>
                </a:solidFill>
              </a:rPr>
              <a:t>KEY INNOVATIONS</a:t>
            </a:r>
          </a:p>
        </p:txBody>
      </p:sp>
      <p:sp>
        <p:nvSpPr>
          <p:cNvPr id="7" name="TB_7"/>
          <p:cNvSpPr txBox="1"/>
          <p:nvPr/>
        </p:nvSpPr>
        <p:spPr>
          <a:xfrm>
            <a:off x="1150000" y="390000"/>
            <a:ext cx="8992000" cy="48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2000" b="1" dirty="0">
                <a:solidFill>
                  <a:srgbClr val="FFFFFF"/>
                </a:solidFill>
              </a:rPr>
              <a:t>Smart Features &amp; User Experience</a:t>
            </a:r>
          </a:p>
        </p:txBody>
      </p:sp>
      <p:sp>
        <p:nvSpPr>
          <p:cNvPr id="8" name="TB_8"/>
          <p:cNvSpPr txBox="1"/>
          <p:nvPr/>
        </p:nvSpPr>
        <p:spPr>
          <a:xfrm>
            <a:off x="10392000" y="260000"/>
            <a:ext cx="15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r"/>
            <a:r>
              <a:rPr lang="en-IN" sz="1100" b="1" dirty="0">
                <a:solidFill>
                  <a:srgbClr val="BFDBFE"/>
                </a:solidFill>
              </a:rPr>
              <a:t>08 / 16</a:t>
            </a:r>
          </a:p>
        </p:txBody>
      </p:sp>
      <p:sp>
        <p:nvSpPr>
          <p:cNvPr id="9" name="R_9"/>
          <p:cNvSpPr/>
          <p:nvPr/>
        </p:nvSpPr>
        <p:spPr>
          <a:xfrm>
            <a:off x="0" y="6518000"/>
            <a:ext cx="12192000" cy="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B_10"/>
          <p:cNvSpPr txBox="1"/>
          <p:nvPr/>
        </p:nvSpPr>
        <p:spPr>
          <a:xfrm>
            <a:off x="400000" y="6538000"/>
            <a:ext cx="11392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IN" sz="850" dirty="0">
                <a:solidFill>
                  <a:srgbClr val="64748B"/>
                </a:solidFill>
              </a:rPr>
              <a:t>Expenso Project  |  Fareed Khilji (23EA0CA030)  |  AIETM Jaipur (2025–26)</a:t>
            </a:r>
          </a:p>
        </p:txBody>
      </p:sp>
      <p:sp>
        <p:nvSpPr>
          <p:cNvPr id="11" name="R_11"/>
          <p:cNvSpPr/>
          <p:nvPr/>
        </p:nvSpPr>
        <p:spPr>
          <a:xfrm>
            <a:off x="600000" y="1180000"/>
            <a:ext cx="5250000" cy="23500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60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2" name="R_12"/>
          <p:cNvSpPr/>
          <p:nvPr/>
        </p:nvSpPr>
        <p:spPr>
          <a:xfrm>
            <a:off x="620000" y="1200000"/>
            <a:ext cx="5210000" cy="5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B_13"/>
          <p:cNvSpPr txBox="1"/>
          <p:nvPr/>
        </p:nvSpPr>
        <p:spPr>
          <a:xfrm>
            <a:off x="720000" y="1300000"/>
            <a:ext cx="501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1300" b="1" dirty="0">
                <a:solidFill>
                  <a:srgbClr val="1E3A8A"/>
                </a:solidFill>
              </a:rPr>
              <a:t>🤖 Intelligent Category Auto-Detect</a:t>
            </a:r>
          </a:p>
        </p:txBody>
      </p:sp>
      <p:sp>
        <p:nvSpPr>
          <p:cNvPr id="14" name="TB_14"/>
          <p:cNvSpPr txBox="1"/>
          <p:nvPr/>
        </p:nvSpPr>
        <p:spPr>
          <a:xfrm>
            <a:off x="720000" y="1800000"/>
            <a:ext cx="5010000" cy="163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 algn="l"/>
            <a:r>
              <a:rPr lang="en-IN" sz="1050" dirty="0">
                <a:solidFill>
                  <a:srgbClr val="334155"/>
                </a:solidFill>
              </a:rPr>
              <a:t>Real-time keyword dictionary maps typed text (e.g. 'burger', 'uber') directly to category badges without user clicks.</a:t>
            </a:r>
          </a:p>
        </p:txBody>
      </p:sp>
      <p:sp>
        <p:nvSpPr>
          <p:cNvPr id="15" name="R_15"/>
          <p:cNvSpPr/>
          <p:nvPr/>
        </p:nvSpPr>
        <p:spPr>
          <a:xfrm>
            <a:off x="6350000" y="1180000"/>
            <a:ext cx="5250000" cy="23500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60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6" name="R_16"/>
          <p:cNvSpPr/>
          <p:nvPr/>
        </p:nvSpPr>
        <p:spPr>
          <a:xfrm>
            <a:off x="6370000" y="1200000"/>
            <a:ext cx="5210000" cy="5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B_17"/>
          <p:cNvSpPr txBox="1"/>
          <p:nvPr/>
        </p:nvSpPr>
        <p:spPr>
          <a:xfrm>
            <a:off x="6470000" y="1300000"/>
            <a:ext cx="501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1300" b="1" dirty="0">
                <a:solidFill>
                  <a:srgbClr val="1E3A8A"/>
                </a:solidFill>
              </a:rPr>
              <a:t>⚡ Sub-5-Second Fast Logging</a:t>
            </a:r>
          </a:p>
        </p:txBody>
      </p:sp>
      <p:sp>
        <p:nvSpPr>
          <p:cNvPr id="18" name="TB_18"/>
          <p:cNvSpPr txBox="1"/>
          <p:nvPr/>
        </p:nvSpPr>
        <p:spPr>
          <a:xfrm>
            <a:off x="6470000" y="1800000"/>
            <a:ext cx="5010000" cy="163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 algn="l"/>
            <a:r>
              <a:rPr lang="en-IN" sz="1050" dirty="0">
                <a:solidFill>
                  <a:srgbClr val="334155"/>
                </a:solidFill>
              </a:rPr>
              <a:t>Payment mode is preset to UPI by default and descriptions are optional, enabling instant one-tap expense recording.</a:t>
            </a:r>
          </a:p>
        </p:txBody>
      </p:sp>
      <p:sp>
        <p:nvSpPr>
          <p:cNvPr id="19" name="R_19"/>
          <p:cNvSpPr/>
          <p:nvPr/>
        </p:nvSpPr>
        <p:spPr>
          <a:xfrm>
            <a:off x="600000" y="3800000"/>
            <a:ext cx="5250000" cy="23500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60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20" name="R_20"/>
          <p:cNvSpPr/>
          <p:nvPr/>
        </p:nvSpPr>
        <p:spPr>
          <a:xfrm>
            <a:off x="620000" y="3820000"/>
            <a:ext cx="5210000" cy="5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B_21"/>
          <p:cNvSpPr txBox="1"/>
          <p:nvPr/>
        </p:nvSpPr>
        <p:spPr>
          <a:xfrm>
            <a:off x="720000" y="3920000"/>
            <a:ext cx="501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1300" b="1" dirty="0">
                <a:solidFill>
                  <a:srgbClr val="1E3A8A"/>
                </a:solidFill>
              </a:rPr>
              <a:t>🔄 State Isolation Architecture</a:t>
            </a:r>
          </a:p>
        </p:txBody>
      </p:sp>
      <p:sp>
        <p:nvSpPr>
          <p:cNvPr id="22" name="TB_22"/>
          <p:cNvSpPr txBox="1"/>
          <p:nvPr/>
        </p:nvSpPr>
        <p:spPr>
          <a:xfrm>
            <a:off x="720000" y="4420000"/>
            <a:ext cx="5010000" cy="163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 algn="l"/>
            <a:r>
              <a:rPr lang="en-IN" sz="1050" dirty="0">
                <a:solidFill>
                  <a:srgbClr val="334155"/>
                </a:solidFill>
              </a:rPr>
              <a:t>Adding income never interferes with or resets expense form states, eliminating data cross-contamination.</a:t>
            </a:r>
          </a:p>
        </p:txBody>
      </p:sp>
      <p:sp>
        <p:nvSpPr>
          <p:cNvPr id="23" name="R_23"/>
          <p:cNvSpPr/>
          <p:nvPr/>
        </p:nvSpPr>
        <p:spPr>
          <a:xfrm>
            <a:off x="6350000" y="3800000"/>
            <a:ext cx="5250000" cy="23500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60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24" name="R_24"/>
          <p:cNvSpPr/>
          <p:nvPr/>
        </p:nvSpPr>
        <p:spPr>
          <a:xfrm>
            <a:off x="6370000" y="3820000"/>
            <a:ext cx="5210000" cy="5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TB_25"/>
          <p:cNvSpPr txBox="1"/>
          <p:nvPr/>
        </p:nvSpPr>
        <p:spPr>
          <a:xfrm>
            <a:off x="6470000" y="3920000"/>
            <a:ext cx="501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1300" b="1" dirty="0">
                <a:solidFill>
                  <a:srgbClr val="1E3A8A"/>
                </a:solidFill>
              </a:rPr>
              <a:t>📊 Real-Time Visual Cashflow</a:t>
            </a:r>
          </a:p>
        </p:txBody>
      </p:sp>
      <p:sp>
        <p:nvSpPr>
          <p:cNvPr id="26" name="TB_26"/>
          <p:cNvSpPr txBox="1"/>
          <p:nvPr/>
        </p:nvSpPr>
        <p:spPr>
          <a:xfrm>
            <a:off x="6470000" y="4420000"/>
            <a:ext cx="5010000" cy="163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 algn="l"/>
            <a:r>
              <a:rPr lang="en-IN" sz="1050" dirty="0">
                <a:solidFill>
                  <a:srgbClr val="334155"/>
                </a:solidFill>
              </a:rPr>
              <a:t>Dynamic doughnut and monthly comparison bar charts update immediately after each transaction entry.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_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_3"/>
          <p:cNvSpPr/>
          <p:nvPr/>
        </p:nvSpPr>
        <p:spPr>
          <a:xfrm>
            <a:off x="0" y="0"/>
            <a:ext cx="12192000" cy="95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_4"/>
          <p:cNvSpPr/>
          <p:nvPr/>
        </p:nvSpPr>
        <p:spPr>
          <a:xfrm>
            <a:off x="0" y="950000"/>
            <a:ext cx="12192000" cy="2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pic>
        <p:nvPicPr>
          <p:cNvPr id="5" name="HeaderLogo_5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280000" y="110000"/>
            <a:ext cx="730000" cy="730000"/>
          </a:xfrm>
          <a:prstGeom prst="rect">
            <a:avLst/>
          </a:prstGeom>
        </p:spPr>
      </p:pic>
      <p:sp>
        <p:nvSpPr>
          <p:cNvPr id="6" name="TB_6"/>
          <p:cNvSpPr txBox="1"/>
          <p:nvPr/>
        </p:nvSpPr>
        <p:spPr>
          <a:xfrm>
            <a:off x="1150000" y="140000"/>
            <a:ext cx="8992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850" b="1" dirty="0">
                <a:solidFill>
                  <a:srgbClr val="FCD34D"/>
                </a:solidFill>
              </a:rPr>
              <a:t>LIVE DEMO • 1-TAP QUICK RECORD</a:t>
            </a:r>
          </a:p>
        </p:txBody>
      </p:sp>
      <p:sp>
        <p:nvSpPr>
          <p:cNvPr id="7" name="TB_7"/>
          <p:cNvSpPr txBox="1"/>
          <p:nvPr/>
        </p:nvSpPr>
        <p:spPr>
          <a:xfrm>
            <a:off x="1150000" y="390000"/>
            <a:ext cx="8992000" cy="48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2000" b="1" dirty="0">
                <a:solidFill>
                  <a:srgbClr val="FFFFFF"/>
                </a:solidFill>
              </a:rPr>
              <a:t>Home Screen: Fast 1-Tap Expense Logger</a:t>
            </a:r>
          </a:p>
        </p:txBody>
      </p:sp>
      <p:sp>
        <p:nvSpPr>
          <p:cNvPr id="8" name="TB_8"/>
          <p:cNvSpPr txBox="1"/>
          <p:nvPr/>
        </p:nvSpPr>
        <p:spPr>
          <a:xfrm>
            <a:off x="10392000" y="260000"/>
            <a:ext cx="15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r"/>
            <a:r>
              <a:rPr lang="en-IN" sz="1100" b="1" dirty="0">
                <a:solidFill>
                  <a:srgbClr val="BFDBFE"/>
                </a:solidFill>
              </a:rPr>
              <a:t>09 / 16</a:t>
            </a:r>
          </a:p>
        </p:txBody>
      </p:sp>
      <p:sp>
        <p:nvSpPr>
          <p:cNvPr id="9" name="R_9"/>
          <p:cNvSpPr/>
          <p:nvPr/>
        </p:nvSpPr>
        <p:spPr>
          <a:xfrm>
            <a:off x="0" y="6518000"/>
            <a:ext cx="12192000" cy="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B_10"/>
          <p:cNvSpPr txBox="1"/>
          <p:nvPr/>
        </p:nvSpPr>
        <p:spPr>
          <a:xfrm>
            <a:off x="400000" y="6538000"/>
            <a:ext cx="11392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IN" sz="850" dirty="0">
                <a:solidFill>
                  <a:srgbClr val="64748B"/>
                </a:solidFill>
              </a:rPr>
              <a:t>Expenso Project  |  Fareed Khilji (23EA0CA030)  |  AIETM Jaipur (2025–26)</a:t>
            </a:r>
          </a:p>
        </p:txBody>
      </p:sp>
      <p:sp>
        <p:nvSpPr>
          <p:cNvPr id="11" name="R_11"/>
          <p:cNvSpPr/>
          <p:nvPr/>
        </p:nvSpPr>
        <p:spPr>
          <a:xfrm>
            <a:off x="550000" y="1160000"/>
            <a:ext cx="6350000" cy="50500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80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2" name="R_12"/>
          <p:cNvSpPr/>
          <p:nvPr/>
        </p:nvSpPr>
        <p:spPr>
          <a:xfrm>
            <a:off x="710000" y="1280000"/>
            <a:ext cx="2400000" cy="32000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12000">
            <a:solidFill>
              <a:srgbClr val="A7F3D0"/>
            </a:solidFill>
          </a:ln>
        </p:spPr>
        <p:txBody>
          <a:bodyPr/>
          <a:lstStyle/>
          <a:p/>
        </p:txBody>
      </p:sp>
      <p:sp>
        <p:nvSpPr>
          <p:cNvPr id="13" name="TB_13"/>
          <p:cNvSpPr txBox="1"/>
          <p:nvPr/>
        </p:nvSpPr>
        <p:spPr>
          <a:xfrm>
            <a:off x="750000" y="1300000"/>
            <a:ext cx="232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800" b="1" dirty="0">
                <a:solidFill>
                  <a:srgbClr val="059669"/>
                </a:solidFill>
              </a:rPr>
              <a:t>📸 LIVE APPLICATION VIEW</a:t>
            </a:r>
          </a:p>
        </p:txBody>
      </p:sp>
      <p:pic>
        <p:nvPicPr>
          <p:cNvPr id="14" name="quick_record_14"/>
          <p:cNvPicPr>
            <a:picLocks noChangeAspect="1"/>
          </p:cNvPicPr>
          <p:nvPr/>
        </p:nvPicPr>
        <p:blipFill>
          <a:blip r:embed="rIdScreenshot"/>
          <a:stretch>
            <a:fillRect/>
          </a:stretch>
        </p:blipFill>
        <p:spPr>
          <a:xfrm>
            <a:off x="710000" y="2120921"/>
            <a:ext cx="6030000" cy="3628158"/>
          </a:xfrm>
          <a:prstGeom prst="rect">
            <a:avLst/>
          </a:prstGeom>
        </p:spPr>
      </p:pic>
      <p:sp>
        <p:nvSpPr>
          <p:cNvPr id="15" name="R_15"/>
          <p:cNvSpPr/>
          <p:nvPr/>
        </p:nvSpPr>
        <p:spPr>
          <a:xfrm>
            <a:off x="7040000" y="1160000"/>
            <a:ext cx="4600000" cy="50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80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6" name="R_16"/>
          <p:cNvSpPr/>
          <p:nvPr/>
        </p:nvSpPr>
        <p:spPr>
          <a:xfrm>
            <a:off x="7060000" y="1180000"/>
            <a:ext cx="4560000" cy="60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B_17"/>
          <p:cNvSpPr txBox="1"/>
          <p:nvPr/>
        </p:nvSpPr>
        <p:spPr>
          <a:xfrm>
            <a:off x="7220000" y="1280000"/>
            <a:ext cx="424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1250" b="1" dirty="0">
                <a:solidFill>
                  <a:srgbClr val="059669"/>
                </a:solidFill>
              </a:rPr>
              <a:t>💡 What You See Here (Beginner Guide)</a:t>
            </a:r>
          </a:p>
        </p:txBody>
      </p:sp>
      <p:sp>
        <p:nvSpPr>
          <p:cNvPr id="18" name="TB_18"/>
          <p:cNvSpPr txBox="1"/>
          <p:nvPr/>
        </p:nvSpPr>
        <p:spPr>
          <a:xfrm>
            <a:off x="7220000" y="1680000"/>
            <a:ext cx="424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 algn="l"/>
            <a:r>
              <a:rPr lang="en-IN" sz="950" dirty="0">
                <a:solidFill>
                  <a:srgbClr val="475569"/>
                </a:solidFill>
              </a:rPr>
              <a:t>Designed for zero-effort habit tracking. Anyone can record daily expenses in under 2 seconds without navigating through complex sub-menus.</a:t>
            </a:r>
          </a:p>
        </p:txBody>
      </p:sp>
      <p:sp>
        <p:nvSpPr>
          <p:cNvPr id="19" name="TB_19"/>
          <p:cNvSpPr txBox="1"/>
          <p:nvPr/>
        </p:nvSpPr>
        <p:spPr>
          <a:xfrm>
            <a:off x="7220000" y="2380000"/>
            <a:ext cx="4240000" cy="275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 marL="280000" indent="-280000">
              <a:spcBef>
                <a:spcPts val="65"/>
              </a:spcBef>
              <a:buFont typeface="Arial"/>
              <a:buChar char="▪"/>
              <a:buClr>
                <a:srgbClr val="059669"/>
              </a:buClr>
            </a:pPr>
            <a:r>
              <a:rPr lang="en-IN" sz="920" dirty="0">
                <a:solidFill>
                  <a:srgbClr val="1E293B"/>
                </a:solidFill>
              </a:rPr>
              <a:t>Big Green (+) Action: Centered for instant thumb reach; opens the entry popup in one single tap.</a:t>
            </a:r>
          </a:p>
          <a:p>
            <a:pPr marL="280000" indent="-280000">
              <a:spcBef>
                <a:spcPts val="65"/>
              </a:spcBef>
              <a:buFont typeface="Arial"/>
              <a:buChar char="▪"/>
              <a:buClr>
                <a:srgbClr val="059669"/>
              </a:buClr>
            </a:pPr>
            <a:r>
              <a:rPr lang="en-IN" sz="920" dirty="0">
                <a:solidFill>
                  <a:srgbClr val="1E293B"/>
                </a:solidFill>
              </a:rPr>
              <a:t>Live Balance Ticker: See your available balance (₹4,383) and today's total spending (₹3,851) at all times.</a:t>
            </a:r>
          </a:p>
          <a:p>
            <a:pPr marL="280000" indent="-280000">
              <a:spcBef>
                <a:spcPts val="65"/>
              </a:spcBef>
              <a:buFont typeface="Arial"/>
              <a:buChar char="▪"/>
              <a:buClr>
                <a:srgbClr val="059669"/>
              </a:buClr>
            </a:pPr>
            <a:r>
              <a:rPr lang="en-IN" sz="920" dirty="0">
                <a:solidFill>
                  <a:srgbClr val="1E293B"/>
                </a:solidFill>
              </a:rPr>
              <a:t>Quick-Category Chips: One tap on Food (₹930) or Shopping (₹1,214) pre-fills your most frequent expenses.</a:t>
            </a:r>
          </a:p>
          <a:p>
            <a:pPr marL="280000" indent="-280000">
              <a:spcBef>
                <a:spcPts val="65"/>
              </a:spcBef>
              <a:buFont typeface="Arial"/>
              <a:buChar char="▪"/>
              <a:buClr>
                <a:srgbClr val="059669"/>
              </a:buClr>
            </a:pPr>
            <a:r>
              <a:rPr lang="en-IN" sz="920" dirty="0">
                <a:solidFill>
                  <a:srgbClr val="1E293B"/>
                </a:solidFill>
              </a:rPr>
              <a:t>Smart Natural Input (Ctrl+K): Type 'Add ₹250 for dinner' and AI detects the category automatically.</a:t>
            </a:r>
          </a:p>
        </p:txBody>
      </p:sp>
      <p:sp>
        <p:nvSpPr>
          <p:cNvPr id="20" name="R_20"/>
          <p:cNvSpPr/>
          <p:nvPr/>
        </p:nvSpPr>
        <p:spPr>
          <a:xfrm>
            <a:off x="7220000" y="5250000"/>
            <a:ext cx="4240000" cy="82000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14000">
            <a:solidFill>
              <a:srgbClr val="A7F3D0"/>
            </a:solidFill>
          </a:ln>
        </p:spPr>
        <p:txBody>
          <a:bodyPr/>
          <a:lstStyle/>
          <a:p/>
        </p:txBody>
      </p:sp>
      <p:sp>
        <p:nvSpPr>
          <p:cNvPr id="21" name="TB_21"/>
          <p:cNvSpPr txBox="1"/>
          <p:nvPr/>
        </p:nvSpPr>
        <p:spPr>
          <a:xfrm>
            <a:off x="7280000" y="5350000"/>
            <a:ext cx="412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880" dirty="0">
                <a:solidFill>
                  <a:srgbClr val="065F46"/>
                </a:solidFill>
              </a:rPr>
              <a:t>✨ Beginner Benefit:
No accounting knowledge needed. It works like sending a quick chat message.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_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_3"/>
          <p:cNvSpPr/>
          <p:nvPr/>
        </p:nvSpPr>
        <p:spPr>
          <a:xfrm>
            <a:off x="0" y="0"/>
            <a:ext cx="12192000" cy="95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_4"/>
          <p:cNvSpPr/>
          <p:nvPr/>
        </p:nvSpPr>
        <p:spPr>
          <a:xfrm>
            <a:off x="0" y="950000"/>
            <a:ext cx="12192000" cy="2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pic>
        <p:nvPicPr>
          <p:cNvPr id="5" name="HeaderLogo_5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280000" y="110000"/>
            <a:ext cx="730000" cy="730000"/>
          </a:xfrm>
          <a:prstGeom prst="rect">
            <a:avLst/>
          </a:prstGeom>
        </p:spPr>
      </p:pic>
      <p:sp>
        <p:nvSpPr>
          <p:cNvPr id="6" name="TB_6"/>
          <p:cNvSpPr txBox="1"/>
          <p:nvPr/>
        </p:nvSpPr>
        <p:spPr>
          <a:xfrm>
            <a:off x="1150000" y="140000"/>
            <a:ext cx="8992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850" b="1" dirty="0">
                <a:solidFill>
                  <a:srgbClr val="FCD34D"/>
                </a:solidFill>
              </a:rPr>
              <a:t>LIVE DEMO • FINANCIAL DASHBOARD</a:t>
            </a:r>
          </a:p>
        </p:txBody>
      </p:sp>
      <p:sp>
        <p:nvSpPr>
          <p:cNvPr id="7" name="TB_7"/>
          <p:cNvSpPr txBox="1"/>
          <p:nvPr/>
        </p:nvSpPr>
        <p:spPr>
          <a:xfrm>
            <a:off x="1150000" y="390000"/>
            <a:ext cx="8992000" cy="48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2000" b="1" dirty="0">
                <a:solidFill>
                  <a:srgbClr val="FFFFFF"/>
                </a:solidFill>
              </a:rPr>
              <a:t>Interactive Dashboard &amp; Visual Analytics</a:t>
            </a:r>
          </a:p>
        </p:txBody>
      </p:sp>
      <p:sp>
        <p:nvSpPr>
          <p:cNvPr id="8" name="TB_8"/>
          <p:cNvSpPr txBox="1"/>
          <p:nvPr/>
        </p:nvSpPr>
        <p:spPr>
          <a:xfrm>
            <a:off x="10392000" y="260000"/>
            <a:ext cx="15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r"/>
            <a:r>
              <a:rPr lang="en-IN" sz="1100" b="1" dirty="0">
                <a:solidFill>
                  <a:srgbClr val="BFDBFE"/>
                </a:solidFill>
              </a:rPr>
              <a:t>10 / 16</a:t>
            </a:r>
          </a:p>
        </p:txBody>
      </p:sp>
      <p:sp>
        <p:nvSpPr>
          <p:cNvPr id="9" name="R_9"/>
          <p:cNvSpPr/>
          <p:nvPr/>
        </p:nvSpPr>
        <p:spPr>
          <a:xfrm>
            <a:off x="0" y="6518000"/>
            <a:ext cx="12192000" cy="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B_10"/>
          <p:cNvSpPr txBox="1"/>
          <p:nvPr/>
        </p:nvSpPr>
        <p:spPr>
          <a:xfrm>
            <a:off x="400000" y="6538000"/>
            <a:ext cx="11392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IN" sz="850" dirty="0">
                <a:solidFill>
                  <a:srgbClr val="64748B"/>
                </a:solidFill>
              </a:rPr>
              <a:t>Expenso Project  |  Fareed Khilji (23EA0CA030)  |  AIETM Jaipur (2025–26)</a:t>
            </a:r>
          </a:p>
        </p:txBody>
      </p:sp>
      <p:sp>
        <p:nvSpPr>
          <p:cNvPr id="11" name="R_11"/>
          <p:cNvSpPr/>
          <p:nvPr/>
        </p:nvSpPr>
        <p:spPr>
          <a:xfrm>
            <a:off x="550000" y="1160000"/>
            <a:ext cx="6350000" cy="50500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80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2" name="R_12"/>
          <p:cNvSpPr/>
          <p:nvPr/>
        </p:nvSpPr>
        <p:spPr>
          <a:xfrm>
            <a:off x="710000" y="1280000"/>
            <a:ext cx="2400000" cy="32000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12000">
            <a:solidFill>
              <a:srgbClr val="BFDBFE"/>
            </a:solidFill>
          </a:ln>
        </p:spPr>
        <p:txBody>
          <a:bodyPr/>
          <a:lstStyle/>
          <a:p/>
        </p:txBody>
      </p:sp>
      <p:sp>
        <p:nvSpPr>
          <p:cNvPr id="13" name="TB_13"/>
          <p:cNvSpPr txBox="1"/>
          <p:nvPr/>
        </p:nvSpPr>
        <p:spPr>
          <a:xfrm>
            <a:off x="750000" y="1300000"/>
            <a:ext cx="232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800" b="1" dirty="0">
                <a:solidFill>
                  <a:srgbClr val="2563EB"/>
                </a:solidFill>
              </a:rPr>
              <a:t>📸 LIVE APPLICATION VIEW</a:t>
            </a:r>
          </a:p>
        </p:txBody>
      </p:sp>
      <p:pic>
        <p:nvPicPr>
          <p:cNvPr id="14" name="dashboard_14"/>
          <p:cNvPicPr>
            <a:picLocks noChangeAspect="1"/>
          </p:cNvPicPr>
          <p:nvPr/>
        </p:nvPicPr>
        <p:blipFill>
          <a:blip r:embed="rIdScreenshot"/>
          <a:stretch>
            <a:fillRect/>
          </a:stretch>
        </p:blipFill>
        <p:spPr>
          <a:xfrm>
            <a:off x="710000" y="2044718"/>
            <a:ext cx="6030000" cy="3780564"/>
          </a:xfrm>
          <a:prstGeom prst="rect">
            <a:avLst/>
          </a:prstGeom>
        </p:spPr>
      </p:pic>
      <p:sp>
        <p:nvSpPr>
          <p:cNvPr id="15" name="R_15"/>
          <p:cNvSpPr/>
          <p:nvPr/>
        </p:nvSpPr>
        <p:spPr>
          <a:xfrm>
            <a:off x="7040000" y="1160000"/>
            <a:ext cx="4600000" cy="50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80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6" name="R_16"/>
          <p:cNvSpPr/>
          <p:nvPr/>
        </p:nvSpPr>
        <p:spPr>
          <a:xfrm>
            <a:off x="7060000" y="1180000"/>
            <a:ext cx="4560000" cy="6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B_17"/>
          <p:cNvSpPr txBox="1"/>
          <p:nvPr/>
        </p:nvSpPr>
        <p:spPr>
          <a:xfrm>
            <a:off x="7220000" y="1280000"/>
            <a:ext cx="424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1250" b="1" dirty="0">
                <a:solidFill>
                  <a:srgbClr val="2563EB"/>
                </a:solidFill>
              </a:rPr>
              <a:t>💡 What You See Here (Beginner Guide)</a:t>
            </a:r>
          </a:p>
        </p:txBody>
      </p:sp>
      <p:sp>
        <p:nvSpPr>
          <p:cNvPr id="18" name="TB_18"/>
          <p:cNvSpPr txBox="1"/>
          <p:nvPr/>
        </p:nvSpPr>
        <p:spPr>
          <a:xfrm>
            <a:off x="7220000" y="1680000"/>
            <a:ext cx="424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 algn="l"/>
            <a:r>
              <a:rPr lang="en-IN" sz="950" dirty="0">
                <a:solidFill>
                  <a:srgbClr val="475569"/>
                </a:solidFill>
              </a:rPr>
              <a:t>Translates complex numbers into simple, colorful charts so beginners instantly know where their money went and how much they saved.</a:t>
            </a:r>
          </a:p>
        </p:txBody>
      </p:sp>
      <p:sp>
        <p:nvSpPr>
          <p:cNvPr id="19" name="TB_19"/>
          <p:cNvSpPr txBox="1"/>
          <p:nvPr/>
        </p:nvSpPr>
        <p:spPr>
          <a:xfrm>
            <a:off x="7220000" y="2380000"/>
            <a:ext cx="4240000" cy="275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 marL="280000" indent="-280000">
              <a:spcBef>
                <a:spcPts val="65"/>
              </a:spcBef>
              <a:buFont typeface="Arial"/>
              <a:buChar char="▪"/>
              <a:buClr>
                <a:srgbClr val="2563EB"/>
              </a:buClr>
            </a:pPr>
            <a:r>
              <a:rPr lang="en-IN" sz="920" dirty="0">
                <a:solidFill>
                  <a:srgbClr val="1E293B"/>
                </a:solidFill>
              </a:rPr>
              <a:t>4 Core Summary Cards: Clear numbers for Total Balance, Monthly Income, Monthly Expenses, and Savings.</a:t>
            </a:r>
          </a:p>
          <a:p>
            <a:pPr marL="280000" indent="-280000">
              <a:spcBef>
                <a:spcPts val="65"/>
              </a:spcBef>
              <a:buFont typeface="Arial"/>
              <a:buChar char="▪"/>
              <a:buClr>
                <a:srgbClr val="2563EB"/>
              </a:buClr>
            </a:pPr>
            <a:r>
              <a:rPr lang="en-IN" sz="920" dirty="0">
                <a:solidFill>
                  <a:srgbClr val="1E293B"/>
                </a:solidFill>
              </a:rPr>
              <a:t>Savings Rate (53.2%): Tells you in green if you are saving enough money this month.</a:t>
            </a:r>
          </a:p>
          <a:p>
            <a:pPr marL="280000" indent="-280000">
              <a:spcBef>
                <a:spcPts val="65"/>
              </a:spcBef>
              <a:buFont typeface="Arial"/>
              <a:buChar char="▪"/>
              <a:buClr>
                <a:srgbClr val="2563EB"/>
              </a:buClr>
            </a:pPr>
            <a:r>
              <a:rPr lang="en-IN" sz="920" dirty="0">
                <a:solidFill>
                  <a:srgbClr val="1E293B"/>
                </a:solidFill>
              </a:rPr>
              <a:t>Spending Overview Bar Chart: Compares cash coming in vs going out across months.</a:t>
            </a:r>
          </a:p>
          <a:p>
            <a:pPr marL="280000" indent="-280000">
              <a:spcBef>
                <a:spcPts val="65"/>
              </a:spcBef>
              <a:buFont typeface="Arial"/>
              <a:buChar char="▪"/>
              <a:buClr>
                <a:srgbClr val="2563EB"/>
              </a:buClr>
            </a:pPr>
            <a:r>
              <a:rPr lang="en-IN" sz="920" dirty="0">
                <a:solidFill>
                  <a:srgbClr val="1E293B"/>
                </a:solidFill>
              </a:rPr>
              <a:t>Category Donut Chart: Shows exact percentage spent on Food, Transport, Shopping, and Health.</a:t>
            </a:r>
          </a:p>
        </p:txBody>
      </p:sp>
      <p:sp>
        <p:nvSpPr>
          <p:cNvPr id="20" name="R_20"/>
          <p:cNvSpPr/>
          <p:nvPr/>
        </p:nvSpPr>
        <p:spPr>
          <a:xfrm>
            <a:off x="7220000" y="5250000"/>
            <a:ext cx="4240000" cy="82000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14000">
            <a:solidFill>
              <a:srgbClr val="BFDBFE"/>
            </a:solidFill>
          </a:ln>
        </p:spPr>
        <p:txBody>
          <a:bodyPr/>
          <a:lstStyle/>
          <a:p/>
        </p:txBody>
      </p:sp>
      <p:sp>
        <p:nvSpPr>
          <p:cNvPr id="21" name="TB_21"/>
          <p:cNvSpPr txBox="1"/>
          <p:nvPr/>
        </p:nvSpPr>
        <p:spPr>
          <a:xfrm>
            <a:off x="7280000" y="5350000"/>
            <a:ext cx="412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880" dirty="0">
                <a:solidFill>
                  <a:srgbClr val="1E40AF"/>
                </a:solidFill>
              </a:rPr>
              <a:t>✨ Beginner Benefit:
You understand your complete monthly financial health in just 5 seconds.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_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_3"/>
          <p:cNvSpPr/>
          <p:nvPr/>
        </p:nvSpPr>
        <p:spPr>
          <a:xfrm>
            <a:off x="0" y="0"/>
            <a:ext cx="12192000" cy="95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_4"/>
          <p:cNvSpPr/>
          <p:nvPr/>
        </p:nvSpPr>
        <p:spPr>
          <a:xfrm>
            <a:off x="0" y="950000"/>
            <a:ext cx="12192000" cy="2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pic>
        <p:nvPicPr>
          <p:cNvPr id="5" name="HeaderLogo_5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280000" y="110000"/>
            <a:ext cx="730000" cy="730000"/>
          </a:xfrm>
          <a:prstGeom prst="rect">
            <a:avLst/>
          </a:prstGeom>
        </p:spPr>
      </p:pic>
      <p:sp>
        <p:nvSpPr>
          <p:cNvPr id="6" name="TB_6"/>
          <p:cNvSpPr txBox="1"/>
          <p:nvPr/>
        </p:nvSpPr>
        <p:spPr>
          <a:xfrm>
            <a:off x="1150000" y="140000"/>
            <a:ext cx="8992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850" b="1" dirty="0">
                <a:solidFill>
                  <a:srgbClr val="FCD34D"/>
                </a:solidFill>
              </a:rPr>
              <a:t>LIVE DEMO • FINANCIAL LEDGER</a:t>
            </a:r>
          </a:p>
        </p:txBody>
      </p:sp>
      <p:sp>
        <p:nvSpPr>
          <p:cNvPr id="7" name="TB_7"/>
          <p:cNvSpPr txBox="1"/>
          <p:nvPr/>
        </p:nvSpPr>
        <p:spPr>
          <a:xfrm>
            <a:off x="1150000" y="390000"/>
            <a:ext cx="8992000" cy="48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2000" b="1" dirty="0">
                <a:solidFill>
                  <a:srgbClr val="FFFFFF"/>
                </a:solidFill>
              </a:rPr>
              <a:t>Smart Ledger: Filterable Money Diary</a:t>
            </a:r>
          </a:p>
        </p:txBody>
      </p:sp>
      <p:sp>
        <p:nvSpPr>
          <p:cNvPr id="8" name="TB_8"/>
          <p:cNvSpPr txBox="1"/>
          <p:nvPr/>
        </p:nvSpPr>
        <p:spPr>
          <a:xfrm>
            <a:off x="10392000" y="260000"/>
            <a:ext cx="15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r"/>
            <a:r>
              <a:rPr lang="en-IN" sz="1100" b="1" dirty="0">
                <a:solidFill>
                  <a:srgbClr val="BFDBFE"/>
                </a:solidFill>
              </a:rPr>
              <a:t>11 / 16</a:t>
            </a:r>
          </a:p>
        </p:txBody>
      </p:sp>
      <p:sp>
        <p:nvSpPr>
          <p:cNvPr id="9" name="R_9"/>
          <p:cNvSpPr/>
          <p:nvPr/>
        </p:nvSpPr>
        <p:spPr>
          <a:xfrm>
            <a:off x="0" y="6518000"/>
            <a:ext cx="12192000" cy="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B_10"/>
          <p:cNvSpPr txBox="1"/>
          <p:nvPr/>
        </p:nvSpPr>
        <p:spPr>
          <a:xfrm>
            <a:off x="400000" y="6538000"/>
            <a:ext cx="11392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IN" sz="850" dirty="0">
                <a:solidFill>
                  <a:srgbClr val="64748B"/>
                </a:solidFill>
              </a:rPr>
              <a:t>Expenso Project  |  Fareed Khilji (23EA0CA030)  |  AIETM Jaipur (2025–26)</a:t>
            </a:r>
          </a:p>
        </p:txBody>
      </p:sp>
      <p:sp>
        <p:nvSpPr>
          <p:cNvPr id="11" name="R_11"/>
          <p:cNvSpPr/>
          <p:nvPr/>
        </p:nvSpPr>
        <p:spPr>
          <a:xfrm>
            <a:off x="550000" y="1160000"/>
            <a:ext cx="6350000" cy="50500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80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2" name="R_12"/>
          <p:cNvSpPr/>
          <p:nvPr/>
        </p:nvSpPr>
        <p:spPr>
          <a:xfrm>
            <a:off x="710000" y="1280000"/>
            <a:ext cx="2400000" cy="320000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 w="12000">
            <a:solidFill>
              <a:srgbClr val="DDD6FE"/>
            </a:solidFill>
          </a:ln>
        </p:spPr>
        <p:txBody>
          <a:bodyPr/>
          <a:lstStyle/>
          <a:p/>
        </p:txBody>
      </p:sp>
      <p:sp>
        <p:nvSpPr>
          <p:cNvPr id="13" name="TB_13"/>
          <p:cNvSpPr txBox="1"/>
          <p:nvPr/>
        </p:nvSpPr>
        <p:spPr>
          <a:xfrm>
            <a:off x="750000" y="1300000"/>
            <a:ext cx="232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800" b="1" dirty="0">
                <a:solidFill>
                  <a:srgbClr val="7C3AED"/>
                </a:solidFill>
              </a:rPr>
              <a:t>📸 LIVE APPLICATION VIEW</a:t>
            </a:r>
          </a:p>
        </p:txBody>
      </p:sp>
      <p:pic>
        <p:nvPicPr>
          <p:cNvPr id="14" name="transactions_14"/>
          <p:cNvPicPr>
            <a:picLocks noChangeAspect="1"/>
          </p:cNvPicPr>
          <p:nvPr/>
        </p:nvPicPr>
        <p:blipFill>
          <a:blip r:embed="rIdScreenshot"/>
          <a:stretch>
            <a:fillRect/>
          </a:stretch>
        </p:blipFill>
        <p:spPr>
          <a:xfrm>
            <a:off x="710000" y="2118735"/>
            <a:ext cx="6030000" cy="3632530"/>
          </a:xfrm>
          <a:prstGeom prst="rect">
            <a:avLst/>
          </a:prstGeom>
        </p:spPr>
      </p:pic>
      <p:sp>
        <p:nvSpPr>
          <p:cNvPr id="15" name="R_15"/>
          <p:cNvSpPr/>
          <p:nvPr/>
        </p:nvSpPr>
        <p:spPr>
          <a:xfrm>
            <a:off x="7040000" y="1160000"/>
            <a:ext cx="4600000" cy="50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80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6" name="R_16"/>
          <p:cNvSpPr/>
          <p:nvPr/>
        </p:nvSpPr>
        <p:spPr>
          <a:xfrm>
            <a:off x="7060000" y="1180000"/>
            <a:ext cx="4560000" cy="6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B_17"/>
          <p:cNvSpPr txBox="1"/>
          <p:nvPr/>
        </p:nvSpPr>
        <p:spPr>
          <a:xfrm>
            <a:off x="7220000" y="1280000"/>
            <a:ext cx="424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1250" b="1" dirty="0">
                <a:solidFill>
                  <a:srgbClr val="7C3AED"/>
                </a:solidFill>
              </a:rPr>
              <a:t>💡 What You See Here (Beginner Guide)</a:t>
            </a:r>
          </a:p>
        </p:txBody>
      </p:sp>
      <p:sp>
        <p:nvSpPr>
          <p:cNvPr id="18" name="TB_18"/>
          <p:cNvSpPr txBox="1"/>
          <p:nvPr/>
        </p:nvSpPr>
        <p:spPr>
          <a:xfrm>
            <a:off x="7220000" y="1680000"/>
            <a:ext cx="424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 algn="l"/>
            <a:r>
              <a:rPr lang="en-IN" sz="950" dirty="0">
                <a:solidFill>
                  <a:srgbClr val="475569"/>
                </a:solidFill>
              </a:rPr>
              <a:t>An organized digital passbook where every rupee is tracked with clear color codes, instant search, and export capabilities.</a:t>
            </a:r>
          </a:p>
        </p:txBody>
      </p:sp>
      <p:sp>
        <p:nvSpPr>
          <p:cNvPr id="19" name="TB_19"/>
          <p:cNvSpPr txBox="1"/>
          <p:nvPr/>
        </p:nvSpPr>
        <p:spPr>
          <a:xfrm>
            <a:off x="7220000" y="2380000"/>
            <a:ext cx="4240000" cy="275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 marL="280000" indent="-280000">
              <a:spcBef>
                <a:spcPts val="65"/>
              </a:spcBef>
              <a:buFont typeface="Arial"/>
              <a:buChar char="▪"/>
              <a:buClr>
                <a:srgbClr val="7C3AED"/>
              </a:buClr>
            </a:pPr>
            <a:r>
              <a:rPr lang="en-IN" sz="920" dirty="0">
                <a:solidFill>
                  <a:srgbClr val="1E293B"/>
                </a:solidFill>
              </a:rPr>
              <a:t>Color-Coded Badges: Green (+₹7,000) for Income and Red (-₹890) for Expenses — impossible to confuse.</a:t>
            </a:r>
          </a:p>
          <a:p>
            <a:pPr marL="280000" indent="-280000">
              <a:spcBef>
                <a:spcPts val="65"/>
              </a:spcBef>
              <a:buFont typeface="Arial"/>
              <a:buChar char="▪"/>
              <a:buClr>
                <a:srgbClr val="7C3AED"/>
              </a:buClr>
            </a:pPr>
            <a:r>
              <a:rPr lang="en-IN" sz="920" dirty="0">
                <a:solidFill>
                  <a:srgbClr val="1E293B"/>
                </a:solidFill>
              </a:rPr>
              <a:t>Instant Keyword Search: Find past spends like 'gym', 'movie', or 'groceries' in milliseconds.</a:t>
            </a:r>
          </a:p>
          <a:p>
            <a:pPr marL="280000" indent="-280000">
              <a:spcBef>
                <a:spcPts val="65"/>
              </a:spcBef>
              <a:buFont typeface="Arial"/>
              <a:buChar char="▪"/>
              <a:buClr>
                <a:srgbClr val="7C3AED"/>
              </a:buClr>
            </a:pPr>
            <a:r>
              <a:rPr lang="en-IN" sz="920" dirty="0">
                <a:solidFill>
                  <a:srgbClr val="1E293B"/>
                </a:solidFill>
              </a:rPr>
              <a:t>Category &amp; Mode Filters: Filter by Payment Method (UPI, Cash) or Category with 1 click.</a:t>
            </a:r>
          </a:p>
          <a:p>
            <a:pPr marL="280000" indent="-280000">
              <a:spcBef>
                <a:spcPts val="65"/>
              </a:spcBef>
              <a:buFont typeface="Arial"/>
              <a:buChar char="▪"/>
              <a:buClr>
                <a:srgbClr val="7C3AED"/>
              </a:buClr>
            </a:pPr>
            <a:r>
              <a:rPr lang="en-IN" sz="920" dirty="0">
                <a:solidFill>
                  <a:srgbClr val="1E293B"/>
                </a:solidFill>
              </a:rPr>
              <a:t>One-Click CSV Export: Download your full transaction history to Excel for personal records or taxes.</a:t>
            </a:r>
          </a:p>
        </p:txBody>
      </p:sp>
      <p:sp>
        <p:nvSpPr>
          <p:cNvPr id="20" name="R_20"/>
          <p:cNvSpPr/>
          <p:nvPr/>
        </p:nvSpPr>
        <p:spPr>
          <a:xfrm>
            <a:off x="7220000" y="5250000"/>
            <a:ext cx="4240000" cy="820000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 w="14000">
            <a:solidFill>
              <a:srgbClr val="DDD6FE"/>
            </a:solidFill>
          </a:ln>
        </p:spPr>
        <p:txBody>
          <a:bodyPr/>
          <a:lstStyle/>
          <a:p/>
        </p:txBody>
      </p:sp>
      <p:sp>
        <p:nvSpPr>
          <p:cNvPr id="21" name="TB_21"/>
          <p:cNvSpPr txBox="1"/>
          <p:nvPr/>
        </p:nvSpPr>
        <p:spPr>
          <a:xfrm>
            <a:off x="7280000" y="5350000"/>
            <a:ext cx="412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880" dirty="0">
                <a:solidFill>
                  <a:srgbClr val="5B21B6"/>
                </a:solidFill>
              </a:rPr>
              <a:t>✨ Beginner Benefit:
Never wonder where your cash disappeared at the end of the month.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_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_3"/>
          <p:cNvSpPr/>
          <p:nvPr/>
        </p:nvSpPr>
        <p:spPr>
          <a:xfrm>
            <a:off x="0" y="0"/>
            <a:ext cx="12192000" cy="95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_4"/>
          <p:cNvSpPr/>
          <p:nvPr/>
        </p:nvSpPr>
        <p:spPr>
          <a:xfrm>
            <a:off x="0" y="950000"/>
            <a:ext cx="12192000" cy="2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pic>
        <p:nvPicPr>
          <p:cNvPr id="5" name="HeaderLogo_5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280000" y="110000"/>
            <a:ext cx="730000" cy="730000"/>
          </a:xfrm>
          <a:prstGeom prst="rect">
            <a:avLst/>
          </a:prstGeom>
        </p:spPr>
      </p:pic>
      <p:sp>
        <p:nvSpPr>
          <p:cNvPr id="6" name="TB_6"/>
          <p:cNvSpPr txBox="1"/>
          <p:nvPr/>
        </p:nvSpPr>
        <p:spPr>
          <a:xfrm>
            <a:off x="1150000" y="140000"/>
            <a:ext cx="8992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850" b="1" dirty="0">
                <a:solidFill>
                  <a:srgbClr val="FCD34D"/>
                </a:solidFill>
              </a:rPr>
              <a:t>LIVE DEMO • CATEGORY BUDGETS</a:t>
            </a:r>
          </a:p>
        </p:txBody>
      </p:sp>
      <p:sp>
        <p:nvSpPr>
          <p:cNvPr id="7" name="TB_7"/>
          <p:cNvSpPr txBox="1"/>
          <p:nvPr/>
        </p:nvSpPr>
        <p:spPr>
          <a:xfrm>
            <a:off x="1150000" y="390000"/>
            <a:ext cx="8992000" cy="48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2000" b="1" dirty="0">
                <a:solidFill>
                  <a:srgbClr val="FFFFFF"/>
                </a:solidFill>
              </a:rPr>
              <a:t>Budget Guardrails: Avoid Month-End Deficit</a:t>
            </a:r>
          </a:p>
        </p:txBody>
      </p:sp>
      <p:sp>
        <p:nvSpPr>
          <p:cNvPr id="8" name="TB_8"/>
          <p:cNvSpPr txBox="1"/>
          <p:nvPr/>
        </p:nvSpPr>
        <p:spPr>
          <a:xfrm>
            <a:off x="10392000" y="260000"/>
            <a:ext cx="15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r"/>
            <a:r>
              <a:rPr lang="en-IN" sz="1100" b="1" dirty="0">
                <a:solidFill>
                  <a:srgbClr val="BFDBFE"/>
                </a:solidFill>
              </a:rPr>
              <a:t>12 / 16</a:t>
            </a:r>
          </a:p>
        </p:txBody>
      </p:sp>
      <p:sp>
        <p:nvSpPr>
          <p:cNvPr id="9" name="R_9"/>
          <p:cNvSpPr/>
          <p:nvPr/>
        </p:nvSpPr>
        <p:spPr>
          <a:xfrm>
            <a:off x="0" y="6518000"/>
            <a:ext cx="12192000" cy="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B_10"/>
          <p:cNvSpPr txBox="1"/>
          <p:nvPr/>
        </p:nvSpPr>
        <p:spPr>
          <a:xfrm>
            <a:off x="400000" y="6538000"/>
            <a:ext cx="11392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IN" sz="850" dirty="0">
                <a:solidFill>
                  <a:srgbClr val="64748B"/>
                </a:solidFill>
              </a:rPr>
              <a:t>Expenso Project  |  Fareed Khilji (23EA0CA030)  |  AIETM Jaipur (2025–26)</a:t>
            </a:r>
          </a:p>
        </p:txBody>
      </p:sp>
      <p:sp>
        <p:nvSpPr>
          <p:cNvPr id="11" name="R_11"/>
          <p:cNvSpPr/>
          <p:nvPr/>
        </p:nvSpPr>
        <p:spPr>
          <a:xfrm>
            <a:off x="550000" y="1160000"/>
            <a:ext cx="6350000" cy="50500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80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2" name="R_12"/>
          <p:cNvSpPr/>
          <p:nvPr/>
        </p:nvSpPr>
        <p:spPr>
          <a:xfrm>
            <a:off x="710000" y="1280000"/>
            <a:ext cx="2400000" cy="320000"/>
          </a:xfrm>
          <a:prstGeom prst="roundRect">
            <a:avLst>
              <a:gd name="adj" fmla="val 3000"/>
            </a:avLst>
          </a:prstGeom>
          <a:solidFill>
            <a:srgbClr val="FFFBEB"/>
          </a:solidFill>
          <a:ln w="12000">
            <a:solidFill>
              <a:srgbClr val="FDE68A"/>
            </a:solidFill>
          </a:ln>
        </p:spPr>
        <p:txBody>
          <a:bodyPr/>
          <a:lstStyle/>
          <a:p/>
        </p:txBody>
      </p:sp>
      <p:sp>
        <p:nvSpPr>
          <p:cNvPr id="13" name="TB_13"/>
          <p:cNvSpPr txBox="1"/>
          <p:nvPr/>
        </p:nvSpPr>
        <p:spPr>
          <a:xfrm>
            <a:off x="750000" y="1300000"/>
            <a:ext cx="232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800" b="1" dirty="0">
                <a:solidFill>
                  <a:srgbClr val="D97706"/>
                </a:solidFill>
              </a:rPr>
              <a:t>📸 LIVE APPLICATION VIEW</a:t>
            </a:r>
          </a:p>
        </p:txBody>
      </p:sp>
      <p:pic>
        <p:nvPicPr>
          <p:cNvPr id="14" name="budgets_14"/>
          <p:cNvPicPr>
            <a:picLocks noChangeAspect="1"/>
          </p:cNvPicPr>
          <p:nvPr/>
        </p:nvPicPr>
        <p:blipFill>
          <a:blip r:embed="rIdScreenshot"/>
          <a:stretch>
            <a:fillRect/>
          </a:stretch>
        </p:blipFill>
        <p:spPr>
          <a:xfrm>
            <a:off x="710000" y="2265565"/>
            <a:ext cx="6030000" cy="3338870"/>
          </a:xfrm>
          <a:prstGeom prst="rect">
            <a:avLst/>
          </a:prstGeom>
        </p:spPr>
      </p:pic>
      <p:sp>
        <p:nvSpPr>
          <p:cNvPr id="15" name="R_15"/>
          <p:cNvSpPr/>
          <p:nvPr/>
        </p:nvSpPr>
        <p:spPr>
          <a:xfrm>
            <a:off x="7040000" y="1160000"/>
            <a:ext cx="4600000" cy="50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80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6" name="R_16"/>
          <p:cNvSpPr/>
          <p:nvPr/>
        </p:nvSpPr>
        <p:spPr>
          <a:xfrm>
            <a:off x="7060000" y="1180000"/>
            <a:ext cx="4560000" cy="6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B_17"/>
          <p:cNvSpPr txBox="1"/>
          <p:nvPr/>
        </p:nvSpPr>
        <p:spPr>
          <a:xfrm>
            <a:off x="7220000" y="1280000"/>
            <a:ext cx="424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1250" b="1" dirty="0">
                <a:solidFill>
                  <a:srgbClr val="D97706"/>
                </a:solidFill>
              </a:rPr>
              <a:t>💡 What You See Here (Beginner Guide)</a:t>
            </a:r>
          </a:p>
        </p:txBody>
      </p:sp>
      <p:sp>
        <p:nvSpPr>
          <p:cNvPr id="18" name="TB_18"/>
          <p:cNvSpPr txBox="1"/>
          <p:nvPr/>
        </p:nvSpPr>
        <p:spPr>
          <a:xfrm>
            <a:off x="7220000" y="1680000"/>
            <a:ext cx="424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 algn="l"/>
            <a:r>
              <a:rPr lang="en-IN" sz="950" dirty="0">
                <a:solidFill>
                  <a:srgbClr val="475569"/>
                </a:solidFill>
              </a:rPr>
              <a:t>Set monthly spending limits for categories like Food and Shopping. Visual progress meters guide you before you overspend.</a:t>
            </a:r>
          </a:p>
        </p:txBody>
      </p:sp>
      <p:sp>
        <p:nvSpPr>
          <p:cNvPr id="19" name="TB_19"/>
          <p:cNvSpPr txBox="1"/>
          <p:nvPr/>
        </p:nvSpPr>
        <p:spPr>
          <a:xfrm>
            <a:off x="7220000" y="2380000"/>
            <a:ext cx="4240000" cy="275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 marL="280000" indent="-280000">
              <a:spcBef>
                <a:spcPts val="65"/>
              </a:spcBef>
              <a:buFont typeface="Arial"/>
              <a:buChar char="▪"/>
              <a:buClr>
                <a:srgbClr val="D97706"/>
              </a:buClr>
            </a:pPr>
            <a:r>
              <a:rPr lang="en-IN" sz="920" dirty="0">
                <a:solidFill>
                  <a:srgbClr val="1E293B"/>
                </a:solidFill>
              </a:rPr>
              <a:t>Visual Progress Meters: Green bars show percentage consumed (e.g., Shopping: 60.7%, Food: 46.5%).</a:t>
            </a:r>
          </a:p>
          <a:p>
            <a:pPr marL="280000" indent="-280000">
              <a:spcBef>
                <a:spcPts val="65"/>
              </a:spcBef>
              <a:buFont typeface="Arial"/>
              <a:buChar char="▪"/>
              <a:buClr>
                <a:srgbClr val="D97706"/>
              </a:buClr>
            </a:pPr>
            <a:r>
              <a:rPr lang="en-IN" sz="920" dirty="0">
                <a:solidFill>
                  <a:srgbClr val="1E293B"/>
                </a:solidFill>
              </a:rPr>
              <a:t>Live Remaining Balances: Exact cash left displayed upfront (e.g. '₹1,070 remaining' for food).</a:t>
            </a:r>
          </a:p>
          <a:p>
            <a:pPr marL="280000" indent="-280000">
              <a:spcBef>
                <a:spcPts val="65"/>
              </a:spcBef>
              <a:buFont typeface="Arial"/>
              <a:buChar char="▪"/>
              <a:buClr>
                <a:srgbClr val="D97706"/>
              </a:buClr>
            </a:pPr>
            <a:r>
              <a:rPr lang="en-IN" sz="920" dirty="0">
                <a:solidFill>
                  <a:srgbClr val="1E293B"/>
                </a:solidFill>
              </a:rPr>
              <a:t>Safe vs Danger Status: Clear 'NORMAL' green badge alerts you before a category limit is exceeded.</a:t>
            </a:r>
          </a:p>
          <a:p>
            <a:pPr marL="280000" indent="-280000">
              <a:spcBef>
                <a:spcPts val="65"/>
              </a:spcBef>
              <a:buFont typeface="Arial"/>
              <a:buChar char="▪"/>
              <a:buClr>
                <a:srgbClr val="D97706"/>
              </a:buClr>
            </a:pPr>
            <a:r>
              <a:rPr lang="en-IN" sz="920" dirty="0">
                <a:solidFill>
                  <a:srgbClr val="1E293B"/>
                </a:solidFill>
              </a:rPr>
              <a:t>Flexible Custom Limits: Tap '+ Set New Budget' anytime to adjust limits as your lifestyle changes.</a:t>
            </a:r>
          </a:p>
        </p:txBody>
      </p:sp>
      <p:sp>
        <p:nvSpPr>
          <p:cNvPr id="20" name="R_20"/>
          <p:cNvSpPr/>
          <p:nvPr/>
        </p:nvSpPr>
        <p:spPr>
          <a:xfrm>
            <a:off x="7220000" y="5250000"/>
            <a:ext cx="4240000" cy="820000"/>
          </a:xfrm>
          <a:prstGeom prst="roundRect">
            <a:avLst>
              <a:gd name="adj" fmla="val 3000"/>
            </a:avLst>
          </a:prstGeom>
          <a:solidFill>
            <a:srgbClr val="FFFBEB"/>
          </a:solidFill>
          <a:ln w="14000">
            <a:solidFill>
              <a:srgbClr val="FDE68A"/>
            </a:solidFill>
          </a:ln>
        </p:spPr>
        <p:txBody>
          <a:bodyPr/>
          <a:lstStyle/>
          <a:p/>
        </p:txBody>
      </p:sp>
      <p:sp>
        <p:nvSpPr>
          <p:cNvPr id="21" name="TB_21"/>
          <p:cNvSpPr txBox="1"/>
          <p:nvPr/>
        </p:nvSpPr>
        <p:spPr>
          <a:xfrm>
            <a:off x="7280000" y="5350000"/>
            <a:ext cx="412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880" dirty="0">
                <a:solidFill>
                  <a:srgbClr val="92400E"/>
                </a:solidFill>
              </a:rPr>
              <a:t>✨ Beginner Benefit:
Acts like a financial guardian, preventing impulse overspending before it happens.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_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_3"/>
          <p:cNvSpPr/>
          <p:nvPr/>
        </p:nvSpPr>
        <p:spPr>
          <a:xfrm>
            <a:off x="0" y="0"/>
            <a:ext cx="12192000" cy="95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_4"/>
          <p:cNvSpPr/>
          <p:nvPr/>
        </p:nvSpPr>
        <p:spPr>
          <a:xfrm>
            <a:off x="0" y="950000"/>
            <a:ext cx="12192000" cy="2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pic>
        <p:nvPicPr>
          <p:cNvPr id="5" name="HeaderLogo_5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280000" y="110000"/>
            <a:ext cx="730000" cy="730000"/>
          </a:xfrm>
          <a:prstGeom prst="rect">
            <a:avLst/>
          </a:prstGeom>
        </p:spPr>
      </p:pic>
      <p:sp>
        <p:nvSpPr>
          <p:cNvPr id="6" name="TB_6"/>
          <p:cNvSpPr txBox="1"/>
          <p:nvPr/>
        </p:nvSpPr>
        <p:spPr>
          <a:xfrm>
            <a:off x="1150000" y="140000"/>
            <a:ext cx="8992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850" b="1" dirty="0">
                <a:solidFill>
                  <a:srgbClr val="FCD34D"/>
                </a:solidFill>
              </a:rPr>
              <a:t>CODE ARCHITECTURE</a:t>
            </a:r>
          </a:p>
        </p:txBody>
      </p:sp>
      <p:sp>
        <p:nvSpPr>
          <p:cNvPr id="7" name="TB_7"/>
          <p:cNvSpPr txBox="1"/>
          <p:nvPr/>
        </p:nvSpPr>
        <p:spPr>
          <a:xfrm>
            <a:off x="1150000" y="390000"/>
            <a:ext cx="8992000" cy="48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2000" b="1" dirty="0">
                <a:solidFill>
                  <a:srgbClr val="FFFFFF"/>
                </a:solidFill>
              </a:rPr>
              <a:t>Implementation &amp; Engineering Design</a:t>
            </a:r>
          </a:p>
        </p:txBody>
      </p:sp>
      <p:sp>
        <p:nvSpPr>
          <p:cNvPr id="8" name="TB_8"/>
          <p:cNvSpPr txBox="1"/>
          <p:nvPr/>
        </p:nvSpPr>
        <p:spPr>
          <a:xfrm>
            <a:off x="10392000" y="260000"/>
            <a:ext cx="15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r"/>
            <a:r>
              <a:rPr lang="en-IN" sz="1100" b="1" dirty="0">
                <a:solidFill>
                  <a:srgbClr val="BFDBFE"/>
                </a:solidFill>
              </a:rPr>
              <a:t>13 / 16</a:t>
            </a:r>
          </a:p>
        </p:txBody>
      </p:sp>
      <p:sp>
        <p:nvSpPr>
          <p:cNvPr id="9" name="R_9"/>
          <p:cNvSpPr/>
          <p:nvPr/>
        </p:nvSpPr>
        <p:spPr>
          <a:xfrm>
            <a:off x="0" y="6518000"/>
            <a:ext cx="12192000" cy="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B_10"/>
          <p:cNvSpPr txBox="1"/>
          <p:nvPr/>
        </p:nvSpPr>
        <p:spPr>
          <a:xfrm>
            <a:off x="400000" y="6538000"/>
            <a:ext cx="11392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IN" sz="850" dirty="0">
                <a:solidFill>
                  <a:srgbClr val="64748B"/>
                </a:solidFill>
              </a:rPr>
              <a:t>Expenso Project  |  Fareed Khilji (23EA0CA030)  |  AIETM Jaipur (2025–26)</a:t>
            </a:r>
          </a:p>
        </p:txBody>
      </p:sp>
      <p:sp>
        <p:nvSpPr>
          <p:cNvPr id="11" name="R_11"/>
          <p:cNvSpPr/>
          <p:nvPr/>
        </p:nvSpPr>
        <p:spPr>
          <a:xfrm>
            <a:off x="600000" y="1180000"/>
            <a:ext cx="5250000" cy="50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93C5FD"/>
            </a:solidFill>
          </a:ln>
        </p:spPr>
        <p:txBody>
          <a:bodyPr/>
          <a:lstStyle/>
          <a:p/>
        </p:txBody>
      </p:sp>
      <p:sp>
        <p:nvSpPr>
          <p:cNvPr id="12" name="R_12"/>
          <p:cNvSpPr/>
          <p:nvPr/>
        </p:nvSpPr>
        <p:spPr>
          <a:xfrm>
            <a:off x="620000" y="1200000"/>
            <a:ext cx="5210000" cy="6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B_13"/>
          <p:cNvSpPr txBox="1"/>
          <p:nvPr/>
        </p:nvSpPr>
        <p:spPr>
          <a:xfrm>
            <a:off x="720000" y="1300000"/>
            <a:ext cx="501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1300" b="1" dirty="0">
                <a:solidFill>
                  <a:srgbClr val="1E3A8A"/>
                </a:solidFill>
              </a:rPr>
              <a:t>⚙️ FastAPI Backend Architecture</a:t>
            </a:r>
          </a:p>
        </p:txBody>
      </p:sp>
      <p:sp>
        <p:nvSpPr>
          <p:cNvPr id="14" name="TB_14"/>
          <p:cNvSpPr txBox="1"/>
          <p:nvPr/>
        </p:nvSpPr>
        <p:spPr>
          <a:xfrm>
            <a:off x="720000" y="1720000"/>
            <a:ext cx="5010000" cy="44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1E3A8A"/>
              </a:buClr>
            </a:pPr>
            <a:r>
              <a:rPr lang="en-IN" sz="1050" dirty="0">
                <a:solidFill>
                  <a:srgbClr val="334155"/>
                </a:solidFill>
              </a:rPr>
              <a:t>Domain-Driven Folder Isolation: apps/api/domain/(auth, transactions).</a:t>
            </a:r>
          </a:p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1E3A8A"/>
              </a:buClr>
            </a:pPr>
            <a:r>
              <a:rPr lang="en-IN" sz="1050" dirty="0">
                <a:solidFill>
                  <a:srgbClr val="334155"/>
                </a:solidFill>
              </a:rPr>
              <a:t>Pydantic Schema Guardians: Strict validation before touching database.</a:t>
            </a:r>
          </a:p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1E3A8A"/>
              </a:buClr>
            </a:pPr>
            <a:r>
              <a:rPr lang="en-IN" sz="1050" dirty="0">
                <a:solidFill>
                  <a:srgbClr val="334155"/>
                </a:solidFill>
              </a:rPr>
              <a:t>Dependency Injection: FastAPI Depends(get_db) creates clean scoped sessions.</a:t>
            </a:r>
          </a:p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1E3A8A"/>
              </a:buClr>
            </a:pPr>
            <a:r>
              <a:rPr lang="en-IN" sz="1050" dirty="0">
                <a:solidFill>
                  <a:srgbClr val="334155"/>
                </a:solidFill>
              </a:rPr>
              <a:t>Strict Line Limits: Every file strictly maintained under 500 lines of code.</a:t>
            </a:r>
          </a:p>
        </p:txBody>
      </p:sp>
      <p:sp>
        <p:nvSpPr>
          <p:cNvPr id="15" name="R_15"/>
          <p:cNvSpPr/>
          <p:nvPr/>
        </p:nvSpPr>
        <p:spPr>
          <a:xfrm>
            <a:off x="6350000" y="1180000"/>
            <a:ext cx="5250000" cy="50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txBody>
          <a:bodyPr/>
          <a:lstStyle/>
          <a:p/>
        </p:txBody>
      </p:sp>
      <p:sp>
        <p:nvSpPr>
          <p:cNvPr id="16" name="R_16"/>
          <p:cNvSpPr/>
          <p:nvPr/>
        </p:nvSpPr>
        <p:spPr>
          <a:xfrm>
            <a:off x="6370000" y="1200000"/>
            <a:ext cx="5210000" cy="600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B_17"/>
          <p:cNvSpPr txBox="1"/>
          <p:nvPr/>
        </p:nvSpPr>
        <p:spPr>
          <a:xfrm>
            <a:off x="6470000" y="1300000"/>
            <a:ext cx="501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1300" b="1" dirty="0">
                <a:solidFill>
                  <a:srgbClr val="065F46"/>
                </a:solidFill>
              </a:rPr>
              <a:t>💻 Frontend Modular Architecture</a:t>
            </a:r>
          </a:p>
        </p:txBody>
      </p:sp>
      <p:sp>
        <p:nvSpPr>
          <p:cNvPr id="18" name="TB_18"/>
          <p:cNvSpPr txBox="1"/>
          <p:nvPr/>
        </p:nvSpPr>
        <p:spPr>
          <a:xfrm>
            <a:off x="6470000" y="1720000"/>
            <a:ext cx="5010000" cy="44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065F46"/>
              </a:buClr>
            </a:pPr>
            <a:r>
              <a:rPr lang="en-IN" sz="1050" dirty="0">
                <a:solidFill>
                  <a:srgbClr val="334155"/>
                </a:solidFill>
              </a:rPr>
              <a:t>Layered JavaScript: apps/web/public/js/ divided into services, views, components.</a:t>
            </a:r>
          </a:p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065F46"/>
              </a:buClr>
            </a:pPr>
            <a:r>
              <a:rPr lang="en-IN" sz="1050" dirty="0">
                <a:solidFill>
                  <a:srgbClr val="334155"/>
                </a:solidFill>
              </a:rPr>
              <a:t>Central API Wrapper: api.js automatically injects JWT Bearer header on every fetch.</a:t>
            </a:r>
          </a:p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065F46"/>
              </a:buClr>
            </a:pPr>
            <a:r>
              <a:rPr lang="en-IN" sz="1050" dirty="0">
                <a:solidFill>
                  <a:srgbClr val="334155"/>
                </a:solidFill>
              </a:rPr>
              <a:t>Dynamic Theme Engine: CSS variables allow seamless dark/light theme switching.</a:t>
            </a:r>
          </a:p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065F46"/>
              </a:buClr>
            </a:pPr>
            <a:r>
              <a:rPr lang="en-IN" sz="1050" dirty="0">
                <a:solidFill>
                  <a:srgbClr val="334155"/>
                </a:solidFill>
              </a:rPr>
              <a:t>Event-Driven Reactivity: Transaction events trigger automatic chart re-renders.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_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_3"/>
          <p:cNvSpPr/>
          <p:nvPr/>
        </p:nvSpPr>
        <p:spPr>
          <a:xfrm>
            <a:off x="0" y="0"/>
            <a:ext cx="12192000" cy="95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_4"/>
          <p:cNvSpPr/>
          <p:nvPr/>
        </p:nvSpPr>
        <p:spPr>
          <a:xfrm>
            <a:off x="0" y="950000"/>
            <a:ext cx="12192000" cy="2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pic>
        <p:nvPicPr>
          <p:cNvPr id="5" name="HeaderLogo_5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280000" y="110000"/>
            <a:ext cx="730000" cy="730000"/>
          </a:xfrm>
          <a:prstGeom prst="rect">
            <a:avLst/>
          </a:prstGeom>
        </p:spPr>
      </p:pic>
      <p:sp>
        <p:nvSpPr>
          <p:cNvPr id="6" name="TB_6"/>
          <p:cNvSpPr txBox="1"/>
          <p:nvPr/>
        </p:nvSpPr>
        <p:spPr>
          <a:xfrm>
            <a:off x="1150000" y="140000"/>
            <a:ext cx="8992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850" b="1" dirty="0">
                <a:solidFill>
                  <a:srgbClr val="FCD34D"/>
                </a:solidFill>
              </a:rPr>
              <a:t>VERIFICATION &amp; QA</a:t>
            </a:r>
          </a:p>
        </p:txBody>
      </p:sp>
      <p:sp>
        <p:nvSpPr>
          <p:cNvPr id="7" name="TB_7"/>
          <p:cNvSpPr txBox="1"/>
          <p:nvPr/>
        </p:nvSpPr>
        <p:spPr>
          <a:xfrm>
            <a:off x="1150000" y="390000"/>
            <a:ext cx="8992000" cy="48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2000" b="1" dirty="0">
                <a:solidFill>
                  <a:srgbClr val="FFFFFF"/>
                </a:solidFill>
              </a:rPr>
              <a:t>Testing, Validation &amp; Quality Metrics</a:t>
            </a:r>
          </a:p>
        </p:txBody>
      </p:sp>
      <p:sp>
        <p:nvSpPr>
          <p:cNvPr id="8" name="TB_8"/>
          <p:cNvSpPr txBox="1"/>
          <p:nvPr/>
        </p:nvSpPr>
        <p:spPr>
          <a:xfrm>
            <a:off x="10392000" y="260000"/>
            <a:ext cx="15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r"/>
            <a:r>
              <a:rPr lang="en-IN" sz="1100" b="1" dirty="0">
                <a:solidFill>
                  <a:srgbClr val="BFDBFE"/>
                </a:solidFill>
              </a:rPr>
              <a:t>14 / 16</a:t>
            </a:r>
          </a:p>
        </p:txBody>
      </p:sp>
      <p:sp>
        <p:nvSpPr>
          <p:cNvPr id="9" name="R_9"/>
          <p:cNvSpPr/>
          <p:nvPr/>
        </p:nvSpPr>
        <p:spPr>
          <a:xfrm>
            <a:off x="0" y="6518000"/>
            <a:ext cx="12192000" cy="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B_10"/>
          <p:cNvSpPr txBox="1"/>
          <p:nvPr/>
        </p:nvSpPr>
        <p:spPr>
          <a:xfrm>
            <a:off x="400000" y="6538000"/>
            <a:ext cx="11392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IN" sz="850" dirty="0">
                <a:solidFill>
                  <a:srgbClr val="64748B"/>
                </a:solidFill>
              </a:rPr>
              <a:t>Expenso Project  |  Fareed Khilji (23EA0CA030)  |  AIETM Jaipur (2025–26)</a:t>
            </a:r>
          </a:p>
        </p:txBody>
      </p:sp>
      <p:sp>
        <p:nvSpPr>
          <p:cNvPr id="11" name="R_11"/>
          <p:cNvSpPr/>
          <p:nvPr/>
        </p:nvSpPr>
        <p:spPr>
          <a:xfrm>
            <a:off x="600000" y="1180000"/>
            <a:ext cx="10992000" cy="36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80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2" name="R_12"/>
          <p:cNvSpPr/>
          <p:nvPr/>
        </p:nvSpPr>
        <p:spPr>
          <a:xfrm>
            <a:off x="620000" y="1200000"/>
            <a:ext cx="10952000" cy="48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B_13"/>
          <p:cNvSpPr txBox="1"/>
          <p:nvPr/>
        </p:nvSpPr>
        <p:spPr>
          <a:xfrm>
            <a:off x="700000" y="1280000"/>
            <a:ext cx="30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1150" b="1" dirty="0">
                <a:solidFill>
                  <a:srgbClr val="FFFFFF"/>
                </a:solidFill>
              </a:rPr>
              <a:t>Test Module</a:t>
            </a:r>
          </a:p>
        </p:txBody>
      </p:sp>
      <p:sp>
        <p:nvSpPr>
          <p:cNvPr id="14" name="TB_14"/>
          <p:cNvSpPr txBox="1"/>
          <p:nvPr/>
        </p:nvSpPr>
        <p:spPr>
          <a:xfrm>
            <a:off x="3700000" y="1280000"/>
            <a:ext cx="52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1150" b="1" dirty="0">
                <a:solidFill>
                  <a:srgbClr val="FFFFFF"/>
                </a:solidFill>
              </a:rPr>
              <a:t>Validation Criteria</a:t>
            </a:r>
          </a:p>
        </p:txBody>
      </p:sp>
      <p:sp>
        <p:nvSpPr>
          <p:cNvPr id="15" name="TB_15"/>
          <p:cNvSpPr txBox="1"/>
          <p:nvPr/>
        </p:nvSpPr>
        <p:spPr>
          <a:xfrm>
            <a:off x="9392000" y="1280000"/>
            <a:ext cx="20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r"/>
            <a:r>
              <a:rPr lang="en-IN" sz="1150" b="1" dirty="0">
                <a:solidFill>
                  <a:srgbClr val="FFFFFF"/>
                </a:solidFill>
              </a:rPr>
              <a:t>Result</a:t>
            </a:r>
          </a:p>
        </p:txBody>
      </p:sp>
      <p:sp>
        <p:nvSpPr>
          <p:cNvPr id="16" name="R_16"/>
          <p:cNvSpPr/>
          <p:nvPr/>
        </p:nvSpPr>
        <p:spPr>
          <a:xfrm>
            <a:off x="620000" y="1720000"/>
            <a:ext cx="10952000" cy="54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B_17"/>
          <p:cNvSpPr txBox="1"/>
          <p:nvPr/>
        </p:nvSpPr>
        <p:spPr>
          <a:xfrm>
            <a:off x="700000" y="1800000"/>
            <a:ext cx="30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1050" b="1" dirty="0">
                <a:solidFill>
                  <a:srgbClr val="1E293B"/>
                </a:solidFill>
              </a:rPr>
              <a:t>JWT Authentication</a:t>
            </a:r>
          </a:p>
        </p:txBody>
      </p:sp>
      <p:sp>
        <p:nvSpPr>
          <p:cNvPr id="18" name="TB_18"/>
          <p:cNvSpPr txBox="1"/>
          <p:nvPr/>
        </p:nvSpPr>
        <p:spPr>
          <a:xfrm>
            <a:off x="3700000" y="1800000"/>
            <a:ext cx="52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950" dirty="0">
                <a:solidFill>
                  <a:srgbClr val="475569"/>
                </a:solidFill>
              </a:rPr>
              <a:t>Login with valid credentials returns 200 + token; invalid returns 401.</a:t>
            </a:r>
          </a:p>
        </p:txBody>
      </p:sp>
      <p:sp>
        <p:nvSpPr>
          <p:cNvPr id="19" name="TB_19"/>
          <p:cNvSpPr txBox="1"/>
          <p:nvPr/>
        </p:nvSpPr>
        <p:spPr>
          <a:xfrm>
            <a:off x="9392000" y="1800000"/>
            <a:ext cx="20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r"/>
            <a:r>
              <a:rPr lang="en-IN" sz="1050" b="1" dirty="0">
                <a:solidFill>
                  <a:srgbClr val="16A34A"/>
                </a:solidFill>
              </a:rPr>
              <a:t>PASS (100%)</a:t>
            </a:r>
          </a:p>
        </p:txBody>
      </p:sp>
      <p:sp>
        <p:nvSpPr>
          <p:cNvPr id="20" name="R_20"/>
          <p:cNvSpPr/>
          <p:nvPr/>
        </p:nvSpPr>
        <p:spPr>
          <a:xfrm>
            <a:off x="620000" y="2300000"/>
            <a:ext cx="10952000" cy="5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B_21"/>
          <p:cNvSpPr txBox="1"/>
          <p:nvPr/>
        </p:nvSpPr>
        <p:spPr>
          <a:xfrm>
            <a:off x="700000" y="2380000"/>
            <a:ext cx="30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1050" b="1" dirty="0">
                <a:solidFill>
                  <a:srgbClr val="1E293B"/>
                </a:solidFill>
              </a:rPr>
              <a:t>Expense Creation</a:t>
            </a:r>
          </a:p>
        </p:txBody>
      </p:sp>
      <p:sp>
        <p:nvSpPr>
          <p:cNvPr id="22" name="TB_22"/>
          <p:cNvSpPr txBox="1"/>
          <p:nvPr/>
        </p:nvSpPr>
        <p:spPr>
          <a:xfrm>
            <a:off x="3700000" y="2380000"/>
            <a:ext cx="52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950" dirty="0">
                <a:solidFill>
                  <a:srgbClr val="475569"/>
                </a:solidFill>
              </a:rPr>
              <a:t>Creating expense stores in SQLite &amp; returns valid JSON within 18ms.</a:t>
            </a:r>
          </a:p>
        </p:txBody>
      </p:sp>
      <p:sp>
        <p:nvSpPr>
          <p:cNvPr id="23" name="TB_23"/>
          <p:cNvSpPr txBox="1"/>
          <p:nvPr/>
        </p:nvSpPr>
        <p:spPr>
          <a:xfrm>
            <a:off x="9392000" y="2380000"/>
            <a:ext cx="20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r"/>
            <a:r>
              <a:rPr lang="en-IN" sz="1050" b="1" dirty="0">
                <a:solidFill>
                  <a:srgbClr val="16A34A"/>
                </a:solidFill>
              </a:rPr>
              <a:t>PASS (100%)</a:t>
            </a:r>
          </a:p>
        </p:txBody>
      </p:sp>
      <p:sp>
        <p:nvSpPr>
          <p:cNvPr id="24" name="R_24"/>
          <p:cNvSpPr/>
          <p:nvPr/>
        </p:nvSpPr>
        <p:spPr>
          <a:xfrm>
            <a:off x="620000" y="2880000"/>
            <a:ext cx="10952000" cy="54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TB_25"/>
          <p:cNvSpPr txBox="1"/>
          <p:nvPr/>
        </p:nvSpPr>
        <p:spPr>
          <a:xfrm>
            <a:off x="700000" y="2960000"/>
            <a:ext cx="30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1050" b="1" dirty="0">
                <a:solidFill>
                  <a:srgbClr val="1E293B"/>
                </a:solidFill>
              </a:rPr>
              <a:t>Auto-Detection</a:t>
            </a:r>
          </a:p>
        </p:txBody>
      </p:sp>
      <p:sp>
        <p:nvSpPr>
          <p:cNvPr id="26" name="TB_26"/>
          <p:cNvSpPr txBox="1"/>
          <p:nvPr/>
        </p:nvSpPr>
        <p:spPr>
          <a:xfrm>
            <a:off x="3700000" y="2960000"/>
            <a:ext cx="52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950" dirty="0">
                <a:solidFill>
                  <a:srgbClr val="475569"/>
                </a:solidFill>
              </a:rPr>
              <a:t>Tested 25 keywords across 8 categories; 100% correct pre-selection.</a:t>
            </a:r>
          </a:p>
        </p:txBody>
      </p:sp>
      <p:sp>
        <p:nvSpPr>
          <p:cNvPr id="27" name="TB_27"/>
          <p:cNvSpPr txBox="1"/>
          <p:nvPr/>
        </p:nvSpPr>
        <p:spPr>
          <a:xfrm>
            <a:off x="9392000" y="2960000"/>
            <a:ext cx="20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r"/>
            <a:r>
              <a:rPr lang="en-IN" sz="1050" b="1" dirty="0">
                <a:solidFill>
                  <a:srgbClr val="16A34A"/>
                </a:solidFill>
              </a:rPr>
              <a:t>PASS (100%)</a:t>
            </a:r>
          </a:p>
        </p:txBody>
      </p:sp>
      <p:sp>
        <p:nvSpPr>
          <p:cNvPr id="28" name="R_28"/>
          <p:cNvSpPr/>
          <p:nvPr/>
        </p:nvSpPr>
        <p:spPr>
          <a:xfrm>
            <a:off x="620000" y="3460000"/>
            <a:ext cx="10952000" cy="5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TB_29"/>
          <p:cNvSpPr txBox="1"/>
          <p:nvPr/>
        </p:nvSpPr>
        <p:spPr>
          <a:xfrm>
            <a:off x="700000" y="3540000"/>
            <a:ext cx="30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1050" b="1" dirty="0">
                <a:solidFill>
                  <a:srgbClr val="1E293B"/>
                </a:solidFill>
              </a:rPr>
              <a:t>Cascade Delete</a:t>
            </a:r>
          </a:p>
        </p:txBody>
      </p:sp>
      <p:sp>
        <p:nvSpPr>
          <p:cNvPr id="30" name="TB_30"/>
          <p:cNvSpPr txBox="1"/>
          <p:nvPr/>
        </p:nvSpPr>
        <p:spPr>
          <a:xfrm>
            <a:off x="3700000" y="3540000"/>
            <a:ext cx="52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950" dirty="0">
                <a:solidFill>
                  <a:srgbClr val="475569"/>
                </a:solidFill>
              </a:rPr>
              <a:t>Deleting a user removes all their associated transactions cleanly.</a:t>
            </a:r>
          </a:p>
        </p:txBody>
      </p:sp>
      <p:sp>
        <p:nvSpPr>
          <p:cNvPr id="31" name="TB_31"/>
          <p:cNvSpPr txBox="1"/>
          <p:nvPr/>
        </p:nvSpPr>
        <p:spPr>
          <a:xfrm>
            <a:off x="9392000" y="3540000"/>
            <a:ext cx="20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r"/>
            <a:r>
              <a:rPr lang="en-IN" sz="1050" b="1" dirty="0">
                <a:solidFill>
                  <a:srgbClr val="16A34A"/>
                </a:solidFill>
              </a:rPr>
              <a:t>PASS (100%)</a:t>
            </a:r>
          </a:p>
        </p:txBody>
      </p:sp>
      <p:sp>
        <p:nvSpPr>
          <p:cNvPr id="32" name="R_32"/>
          <p:cNvSpPr/>
          <p:nvPr/>
        </p:nvSpPr>
        <p:spPr>
          <a:xfrm>
            <a:off x="620000" y="4040000"/>
            <a:ext cx="10952000" cy="54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TB_33"/>
          <p:cNvSpPr txBox="1"/>
          <p:nvPr/>
        </p:nvSpPr>
        <p:spPr>
          <a:xfrm>
            <a:off x="700000" y="4120000"/>
            <a:ext cx="30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1050" b="1" dirty="0">
                <a:solidFill>
                  <a:srgbClr val="1E293B"/>
                </a:solidFill>
              </a:rPr>
              <a:t>Form State Isolation</a:t>
            </a:r>
          </a:p>
        </p:txBody>
      </p:sp>
      <p:sp>
        <p:nvSpPr>
          <p:cNvPr id="34" name="TB_34"/>
          <p:cNvSpPr txBox="1"/>
          <p:nvPr/>
        </p:nvSpPr>
        <p:spPr>
          <a:xfrm>
            <a:off x="3700000" y="4120000"/>
            <a:ext cx="52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950" dirty="0">
                <a:solidFill>
                  <a:srgbClr val="475569"/>
                </a:solidFill>
              </a:rPr>
              <a:t>Opening income modal after expense keeps all states completely separate.</a:t>
            </a:r>
          </a:p>
        </p:txBody>
      </p:sp>
      <p:sp>
        <p:nvSpPr>
          <p:cNvPr id="35" name="TB_35"/>
          <p:cNvSpPr txBox="1"/>
          <p:nvPr/>
        </p:nvSpPr>
        <p:spPr>
          <a:xfrm>
            <a:off x="9392000" y="4120000"/>
            <a:ext cx="20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r"/>
            <a:r>
              <a:rPr lang="en-IN" sz="1050" b="1" dirty="0">
                <a:solidFill>
                  <a:srgbClr val="16A34A"/>
                </a:solidFill>
              </a:rPr>
              <a:t>PASS (100%)</a:t>
            </a:r>
          </a:p>
        </p:txBody>
      </p:sp>
      <p:sp>
        <p:nvSpPr>
          <p:cNvPr id="36" name="R_36"/>
          <p:cNvSpPr/>
          <p:nvPr/>
        </p:nvSpPr>
        <p:spPr>
          <a:xfrm>
            <a:off x="600000" y="4980000"/>
            <a:ext cx="3350000" cy="1150000"/>
          </a:xfrm>
          <a:prstGeom prst="roundRect">
            <a:avLst>
              <a:gd name="adj" fmla="val 3000"/>
            </a:avLst>
          </a:prstGeom>
          <a:solidFill>
            <a:srgbClr val="F0FDF4"/>
          </a:solidFill>
          <a:ln w="15000">
            <a:solidFill>
              <a:srgbClr val="86EFAC"/>
            </a:solidFill>
          </a:ln>
        </p:spPr>
        <p:txBody>
          <a:bodyPr/>
          <a:lstStyle/>
          <a:p/>
        </p:txBody>
      </p:sp>
      <p:sp>
        <p:nvSpPr>
          <p:cNvPr id="37" name="TB_37"/>
          <p:cNvSpPr txBox="1"/>
          <p:nvPr/>
        </p:nvSpPr>
        <p:spPr>
          <a:xfrm>
            <a:off x="680000" y="5100000"/>
            <a:ext cx="319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IN" sz="1400" b="1" dirty="0">
                <a:solidFill>
                  <a:srgbClr val="15803D"/>
                </a:solidFill>
              </a:rPr>
              <a:t>⚡ 18 ms</a:t>
            </a:r>
          </a:p>
        </p:txBody>
      </p:sp>
      <p:sp>
        <p:nvSpPr>
          <p:cNvPr id="38" name="TB_38"/>
          <p:cNvSpPr txBox="1"/>
          <p:nvPr/>
        </p:nvSpPr>
        <p:spPr>
          <a:xfrm>
            <a:off x="680000" y="5560000"/>
            <a:ext cx="319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IN" sz="1000" dirty="0">
                <a:solidFill>
                  <a:srgbClr val="475569"/>
                </a:solidFill>
              </a:rPr>
              <a:t>Average API Latency</a:t>
            </a:r>
          </a:p>
        </p:txBody>
      </p:sp>
      <p:sp>
        <p:nvSpPr>
          <p:cNvPr id="39" name="R_39"/>
          <p:cNvSpPr/>
          <p:nvPr/>
        </p:nvSpPr>
        <p:spPr>
          <a:xfrm>
            <a:off x="4175000" y="4980000"/>
            <a:ext cx="3350000" cy="1150000"/>
          </a:xfrm>
          <a:prstGeom prst="roundRect">
            <a:avLst>
              <a:gd name="adj" fmla="val 3000"/>
            </a:avLst>
          </a:prstGeom>
          <a:solidFill>
            <a:srgbClr val="F0FDF4"/>
          </a:solidFill>
          <a:ln w="15000">
            <a:solidFill>
              <a:srgbClr val="86EFAC"/>
            </a:solidFill>
          </a:ln>
        </p:spPr>
        <p:txBody>
          <a:bodyPr/>
          <a:lstStyle/>
          <a:p/>
        </p:txBody>
      </p:sp>
      <p:sp>
        <p:nvSpPr>
          <p:cNvPr id="40" name="TB_40"/>
          <p:cNvSpPr txBox="1"/>
          <p:nvPr/>
        </p:nvSpPr>
        <p:spPr>
          <a:xfrm>
            <a:off x="4255000" y="5100000"/>
            <a:ext cx="319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IN" sz="1400" b="1" dirty="0">
                <a:solidFill>
                  <a:srgbClr val="15803D"/>
                </a:solidFill>
              </a:rPr>
              <a:t>📦 &lt; 150 KB</a:t>
            </a:r>
          </a:p>
        </p:txBody>
      </p:sp>
      <p:sp>
        <p:nvSpPr>
          <p:cNvPr id="41" name="TB_41"/>
          <p:cNvSpPr txBox="1"/>
          <p:nvPr/>
        </p:nvSpPr>
        <p:spPr>
          <a:xfrm>
            <a:off x="4255000" y="5560000"/>
            <a:ext cx="319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IN" sz="1000" dirty="0">
                <a:solidFill>
                  <a:srgbClr val="475569"/>
                </a:solidFill>
              </a:rPr>
              <a:t>Total Frontend Bundle</a:t>
            </a:r>
          </a:p>
        </p:txBody>
      </p:sp>
      <p:sp>
        <p:nvSpPr>
          <p:cNvPr id="42" name="R_42"/>
          <p:cNvSpPr/>
          <p:nvPr/>
        </p:nvSpPr>
        <p:spPr>
          <a:xfrm>
            <a:off x="7750000" y="4980000"/>
            <a:ext cx="3350000" cy="1150000"/>
          </a:xfrm>
          <a:prstGeom prst="roundRect">
            <a:avLst>
              <a:gd name="adj" fmla="val 3000"/>
            </a:avLst>
          </a:prstGeom>
          <a:solidFill>
            <a:srgbClr val="F0FDF4"/>
          </a:solidFill>
          <a:ln w="15000">
            <a:solidFill>
              <a:srgbClr val="86EFAC"/>
            </a:solidFill>
          </a:ln>
        </p:spPr>
        <p:txBody>
          <a:bodyPr/>
          <a:lstStyle/>
          <a:p/>
        </p:txBody>
      </p:sp>
      <p:sp>
        <p:nvSpPr>
          <p:cNvPr id="43" name="TB_43"/>
          <p:cNvSpPr txBox="1"/>
          <p:nvPr/>
        </p:nvSpPr>
        <p:spPr>
          <a:xfrm>
            <a:off x="7830000" y="5100000"/>
            <a:ext cx="319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IN" sz="1400" b="1" dirty="0">
                <a:solidFill>
                  <a:srgbClr val="15803D"/>
                </a:solidFill>
              </a:rPr>
              <a:t>🛡️ 0 Leakage</a:t>
            </a:r>
          </a:p>
        </p:txBody>
      </p:sp>
      <p:sp>
        <p:nvSpPr>
          <p:cNvPr id="44" name="TB_44"/>
          <p:cNvSpPr txBox="1"/>
          <p:nvPr/>
        </p:nvSpPr>
        <p:spPr>
          <a:xfrm>
            <a:off x="7830000" y="5560000"/>
            <a:ext cx="319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IN" sz="1000" dirty="0">
                <a:solidFill>
                  <a:srgbClr val="475569"/>
                </a:solidFill>
              </a:rPr>
              <a:t>Local SQLite Privacy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_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_3"/>
          <p:cNvSpPr/>
          <p:nvPr/>
        </p:nvSpPr>
        <p:spPr>
          <a:xfrm>
            <a:off x="0" y="0"/>
            <a:ext cx="12192000" cy="95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_4"/>
          <p:cNvSpPr/>
          <p:nvPr/>
        </p:nvSpPr>
        <p:spPr>
          <a:xfrm>
            <a:off x="0" y="950000"/>
            <a:ext cx="12192000" cy="2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pic>
        <p:nvPicPr>
          <p:cNvPr id="5" name="HeaderLogo_5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280000" y="110000"/>
            <a:ext cx="730000" cy="730000"/>
          </a:xfrm>
          <a:prstGeom prst="rect">
            <a:avLst/>
          </a:prstGeom>
        </p:spPr>
      </p:pic>
      <p:sp>
        <p:nvSpPr>
          <p:cNvPr id="6" name="TB_6"/>
          <p:cNvSpPr txBox="1"/>
          <p:nvPr/>
        </p:nvSpPr>
        <p:spPr>
          <a:xfrm>
            <a:off x="1150000" y="140000"/>
            <a:ext cx="8992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850" b="1" dirty="0">
                <a:solidFill>
                  <a:srgbClr val="FCD34D"/>
                </a:solidFill>
              </a:rPr>
              <a:t>CONCLUSION &amp; FUTURE SCOPE</a:t>
            </a:r>
          </a:p>
        </p:txBody>
      </p:sp>
      <p:sp>
        <p:nvSpPr>
          <p:cNvPr id="7" name="TB_7"/>
          <p:cNvSpPr txBox="1"/>
          <p:nvPr/>
        </p:nvSpPr>
        <p:spPr>
          <a:xfrm>
            <a:off x="1150000" y="390000"/>
            <a:ext cx="8992000" cy="48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2000" b="1" dirty="0">
                <a:solidFill>
                  <a:srgbClr val="FFFFFF"/>
                </a:solidFill>
              </a:rPr>
              <a:t>Project Achievements &amp; Future Roadmap</a:t>
            </a:r>
          </a:p>
        </p:txBody>
      </p:sp>
      <p:sp>
        <p:nvSpPr>
          <p:cNvPr id="8" name="TB_8"/>
          <p:cNvSpPr txBox="1"/>
          <p:nvPr/>
        </p:nvSpPr>
        <p:spPr>
          <a:xfrm>
            <a:off x="10392000" y="260000"/>
            <a:ext cx="15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r"/>
            <a:r>
              <a:rPr lang="en-IN" sz="1100" b="1" dirty="0">
                <a:solidFill>
                  <a:srgbClr val="BFDBFE"/>
                </a:solidFill>
              </a:rPr>
              <a:t>15 / 16</a:t>
            </a:r>
          </a:p>
        </p:txBody>
      </p:sp>
      <p:sp>
        <p:nvSpPr>
          <p:cNvPr id="9" name="R_9"/>
          <p:cNvSpPr/>
          <p:nvPr/>
        </p:nvSpPr>
        <p:spPr>
          <a:xfrm>
            <a:off x="0" y="6518000"/>
            <a:ext cx="12192000" cy="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B_10"/>
          <p:cNvSpPr txBox="1"/>
          <p:nvPr/>
        </p:nvSpPr>
        <p:spPr>
          <a:xfrm>
            <a:off x="400000" y="6538000"/>
            <a:ext cx="11392000" cy="26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IN" sz="850" dirty="0">
                <a:solidFill>
                  <a:srgbClr val="64748B"/>
                </a:solidFill>
              </a:rPr>
              <a:t>Expenso Project  |  Fareed Khilji (23EA0CA030)  |  AIETM Jaipur (2025–26)</a:t>
            </a:r>
          </a:p>
        </p:txBody>
      </p:sp>
      <p:sp>
        <p:nvSpPr>
          <p:cNvPr id="11" name="R_11"/>
          <p:cNvSpPr/>
          <p:nvPr/>
        </p:nvSpPr>
        <p:spPr>
          <a:xfrm>
            <a:off x="600000" y="1180000"/>
            <a:ext cx="5250000" cy="50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93C5FD"/>
            </a:solidFill>
          </a:ln>
        </p:spPr>
        <p:txBody>
          <a:bodyPr/>
          <a:lstStyle/>
          <a:p/>
        </p:txBody>
      </p:sp>
      <p:sp>
        <p:nvSpPr>
          <p:cNvPr id="12" name="R_12"/>
          <p:cNvSpPr/>
          <p:nvPr/>
        </p:nvSpPr>
        <p:spPr>
          <a:xfrm>
            <a:off x="620000" y="1200000"/>
            <a:ext cx="5210000" cy="6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B_13"/>
          <p:cNvSpPr txBox="1"/>
          <p:nvPr/>
        </p:nvSpPr>
        <p:spPr>
          <a:xfrm>
            <a:off x="720000" y="1300000"/>
            <a:ext cx="501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1300" b="1" dirty="0">
                <a:solidFill>
                  <a:srgbClr val="1E3A8A"/>
                </a:solidFill>
              </a:rPr>
              <a:t>🏆 Key Project Accomplishments</a:t>
            </a:r>
          </a:p>
        </p:txBody>
      </p:sp>
      <p:sp>
        <p:nvSpPr>
          <p:cNvPr id="14" name="TB_14"/>
          <p:cNvSpPr txBox="1"/>
          <p:nvPr/>
        </p:nvSpPr>
        <p:spPr>
          <a:xfrm>
            <a:off x="720000" y="1720000"/>
            <a:ext cx="5010000" cy="44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1E3A8A"/>
              </a:buClr>
            </a:pPr>
            <a:r>
              <a:rPr lang="en-IN" sz="1050" dirty="0">
                <a:solidFill>
                  <a:srgbClr val="334155"/>
                </a:solidFill>
              </a:rPr>
              <a:t>Engineered a production-ready, full-stack personal finance web application.</a:t>
            </a:r>
          </a:p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1E3A8A"/>
              </a:buClr>
            </a:pPr>
            <a:r>
              <a:rPr lang="en-IN" sz="1050" dirty="0">
                <a:solidFill>
                  <a:srgbClr val="334155"/>
                </a:solidFill>
              </a:rPr>
              <a:t>Achieved sub-5-second transaction logging with intelligent keyword auto-detection.</a:t>
            </a:r>
          </a:p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1E3A8A"/>
              </a:buClr>
            </a:pPr>
            <a:r>
              <a:rPr lang="en-IN" sz="1050" dirty="0">
                <a:solidFill>
                  <a:srgbClr val="334155"/>
                </a:solidFill>
              </a:rPr>
              <a:t>Implemented enterprise Clean Architecture with strict &lt; 500 LOC modularity.</a:t>
            </a:r>
          </a:p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1E3A8A"/>
              </a:buClr>
            </a:pPr>
            <a:r>
              <a:rPr lang="en-IN" sz="1050" dirty="0">
                <a:solidFill>
                  <a:srgbClr val="334155"/>
                </a:solidFill>
              </a:rPr>
              <a:t>Eliminated third-party tracking, guaranteeing complete user financial privacy.</a:t>
            </a:r>
          </a:p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1E3A8A"/>
              </a:buClr>
            </a:pPr>
            <a:r>
              <a:rPr lang="en-IN" sz="1050" dirty="0">
                <a:solidFill>
                  <a:srgbClr val="334155"/>
                </a:solidFill>
              </a:rPr>
              <a:t>Successfully hosted and running locally with zero maintenance or cloud fees.</a:t>
            </a:r>
          </a:p>
        </p:txBody>
      </p:sp>
      <p:sp>
        <p:nvSpPr>
          <p:cNvPr id="15" name="R_15"/>
          <p:cNvSpPr/>
          <p:nvPr/>
        </p:nvSpPr>
        <p:spPr>
          <a:xfrm>
            <a:off x="6350000" y="1180000"/>
            <a:ext cx="5250000" cy="50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FDE68A"/>
            </a:solidFill>
          </a:ln>
        </p:spPr>
        <p:txBody>
          <a:bodyPr/>
          <a:lstStyle/>
          <a:p/>
        </p:txBody>
      </p:sp>
      <p:sp>
        <p:nvSpPr>
          <p:cNvPr id="16" name="R_16"/>
          <p:cNvSpPr/>
          <p:nvPr/>
        </p:nvSpPr>
        <p:spPr>
          <a:xfrm>
            <a:off x="6370000" y="1200000"/>
            <a:ext cx="5210000" cy="600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B_17"/>
          <p:cNvSpPr txBox="1"/>
          <p:nvPr/>
        </p:nvSpPr>
        <p:spPr>
          <a:xfrm>
            <a:off x="6470000" y="1300000"/>
            <a:ext cx="501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/>
            <a:r>
              <a:rPr lang="en-IN" sz="1300" b="1" dirty="0">
                <a:solidFill>
                  <a:srgbClr val="B45309"/>
                </a:solidFill>
              </a:rPr>
              <a:t>🚀 Future Development Roadmap</a:t>
            </a:r>
          </a:p>
        </p:txBody>
      </p:sp>
      <p:sp>
        <p:nvSpPr>
          <p:cNvPr id="18" name="TB_18"/>
          <p:cNvSpPr txBox="1"/>
          <p:nvPr/>
        </p:nvSpPr>
        <p:spPr>
          <a:xfrm>
            <a:off x="6470000" y="1720000"/>
            <a:ext cx="5010000" cy="44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B45309"/>
              </a:buClr>
            </a:pPr>
            <a:r>
              <a:rPr lang="en-IN" sz="1050" dirty="0">
                <a:solidFill>
                  <a:srgbClr val="334155"/>
                </a:solidFill>
              </a:rPr>
              <a:t>Cross-Platform Mobile App: Build lightweight mobile UI with React Native.</a:t>
            </a:r>
          </a:p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B45309"/>
              </a:buClr>
            </a:pPr>
            <a:r>
              <a:rPr lang="en-IN" sz="1050" dirty="0">
                <a:solidFill>
                  <a:srgbClr val="334155"/>
                </a:solidFill>
              </a:rPr>
              <a:t>Bank SMS Auto-Parsing: On-device parser to automatically read incoming UPI alerts.</a:t>
            </a:r>
          </a:p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B45309"/>
              </a:buClr>
            </a:pPr>
            <a:r>
              <a:rPr lang="en-IN" sz="1050" dirty="0">
                <a:solidFill>
                  <a:srgbClr val="334155"/>
                </a:solidFill>
              </a:rPr>
              <a:t>PDF/Excel Statement Export: Generate audited monthly expense reports.</a:t>
            </a:r>
          </a:p>
          <a:p>
            <a:pPr marL="280000" indent="-280000">
              <a:spcBef>
                <a:spcPts val="70"/>
              </a:spcBef>
              <a:buFont typeface="Arial"/>
              <a:buChar char="▪"/>
              <a:buClr>
                <a:srgbClr val="B45309"/>
              </a:buClr>
            </a:pPr>
            <a:r>
              <a:rPr lang="en-IN" sz="1050" dirty="0">
                <a:solidFill>
                  <a:srgbClr val="334155"/>
                </a:solidFill>
              </a:rPr>
              <a:t>Predictive Spending AI: Local ML model predicting month-end budget burn.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_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_3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_4"/>
          <p:cNvSpPr/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_5"/>
          <p:cNvSpPr/>
          <p:nvPr/>
        </p:nvSpPr>
        <p:spPr>
          <a:xfrm>
            <a:off x="1596000" y="829000"/>
            <a:ext cx="9000000" cy="52000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20000">
            <a:solidFill>
              <a:srgbClr val="CBD5E1"/>
            </a:solidFill>
          </a:ln>
        </p:spPr>
        <p:txBody>
          <a:bodyPr/>
          <a:lstStyle/>
          <a:p/>
        </p:txBody>
      </p:sp>
      <p:pic>
        <p:nvPicPr>
          <p:cNvPr id="6" name="LogoCenter_6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5346000" y="1069000"/>
            <a:ext cx="1500000" cy="1500000"/>
          </a:xfrm>
          <a:prstGeom prst="rect">
            <a:avLst/>
          </a:prstGeom>
        </p:spPr>
      </p:pic>
      <p:sp>
        <p:nvSpPr>
          <p:cNvPr id="7" name="TB_7"/>
          <p:cNvSpPr txBox="1"/>
          <p:nvPr/>
        </p:nvSpPr>
        <p:spPr>
          <a:xfrm>
            <a:off x="1996000" y="2679000"/>
            <a:ext cx="82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IN" sz="3200" b="1" dirty="0">
                <a:solidFill>
                  <a:srgbClr val="1E3A8A"/>
                </a:solidFill>
              </a:rPr>
              <a:t>Thank You!</a:t>
            </a:r>
          </a:p>
        </p:txBody>
      </p:sp>
      <p:sp>
        <p:nvSpPr>
          <p:cNvPr id="8" name="TB_8"/>
          <p:cNvSpPr txBox="1"/>
          <p:nvPr/>
        </p:nvSpPr>
        <p:spPr>
          <a:xfrm>
            <a:off x="1996000" y="3429000"/>
            <a:ext cx="82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IN" sz="1800" b="1" dirty="0">
                <a:solidFill>
                  <a:srgbClr val="D97706"/>
                </a:solidFill>
              </a:rPr>
              <a:t>Questions &amp; Discussion (Q&amp;A)</a:t>
            </a:r>
          </a:p>
        </p:txBody>
      </p:sp>
      <p:sp>
        <p:nvSpPr>
          <p:cNvPr id="9" name="R_9"/>
          <p:cNvSpPr/>
          <p:nvPr/>
        </p:nvSpPr>
        <p:spPr>
          <a:xfrm>
            <a:off x="3396000" y="4079000"/>
            <a:ext cx="5400000" cy="16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B_10"/>
          <p:cNvSpPr txBox="1"/>
          <p:nvPr/>
        </p:nvSpPr>
        <p:spPr>
          <a:xfrm>
            <a:off x="1996000" y="4229000"/>
            <a:ext cx="8200000" cy="15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 algn="ctr"/>
            <a:r>
              <a:rPr lang="en-IN" sz="1350" b="1" dirty="0">
                <a:solidFill>
                  <a:srgbClr val="1E293B"/>
                </a:solidFill>
              </a:rPr>
              <a:t>Project: Expenso — Personal Finance &amp; Expense Tracker</a:t>
            </a:r>
          </a:p>
          <a:p>
            <a:pPr algn="ctr">
              <a:spcBef>
                <a:spcPts val="30"/>
              </a:spcBef>
            </a:pPr>
            <a:r>
              <a:rPr lang="en-IN" sz="1300" dirty="0">
                <a:solidFill>
                  <a:srgbClr val="334155"/>
                </a:solidFill>
              </a:rPr>
              <a:t>Presented by: Fareed Khilji (Roll No: 23EA0CA030)</a:t>
            </a:r>
          </a:p>
          <a:p>
            <a:pPr algn="ctr">
              <a:spcBef>
                <a:spcPts val="30"/>
              </a:spcBef>
            </a:pPr>
            <a:r>
              <a:rPr lang="en-IN" sz="1300" dirty="0">
                <a:solidFill>
                  <a:srgbClr val="334155"/>
                </a:solidFill>
              </a:rPr>
              <a:t>Guided by: Dr. Sanjay Tiwari (HOD, CSE Dept.)</a:t>
            </a:r>
          </a:p>
          <a:p>
            <a:pPr algn="ctr">
              <a:spcBef>
                <a:spcPts val="30"/>
              </a:spcBef>
            </a:pPr>
            <a:r>
              <a:rPr lang="en-IN" sz="1200" dirty="0">
                <a:solidFill>
                  <a:srgbClr val="64748B"/>
                </a:solidFill>
              </a:rPr>
              <a:t>Arya Institute of Engineering Technology &amp; Management (AIETM), Jaipur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CollegeTheme">
  <a:themeElements>
    <a:clrScheme name="College">
      <a:dk1>
        <a:srgbClr val="1E3A8A"/>
      </a:dk1>
      <a:lt1>
        <a:srgbClr val="FFFFFF"/>
      </a:lt1>
      <a:dk2>
        <a:srgbClr val="0F172A"/>
      </a:dk2>
      <a:lt2>
        <a:srgbClr val="F8FAFC"/>
      </a:lt2>
      <a:accent1>
        <a:srgbClr val="D97706"/>
      </a:accent1>
      <a:accent2>
        <a:srgbClr val="16A34A"/>
      </a:accent2>
      <a:accent3>
        <a:srgbClr val="2563EB"/>
      </a:accent3>
      <a:accent4>
        <a:srgbClr val="7C3AED"/>
      </a:accent4>
      <a:accent5>
        <a:srgbClr val="DC2626"/>
      </a:accent5>
      <a:accent6>
        <a:srgbClr val="0D9488"/>
      </a:accent6>
      <a:hlink>
        <a:srgbClr val="1E3A8A"/>
      </a:hlink>
      <a:folHlink>
        <a:srgbClr val="16A34A"/>
      </a:folHlink>
    </a:clrScheme>
    <a:fontScheme name="CollegeFonts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CollegeFormat">
      <a:fillStyleLst/>
      <a:lnStyleLst/>
      <a:effectStyleLst/>
      <a:bgFillStyleLst/>
    </a:fmtScheme>
  </a:themeElements>
</a:theme>
</file>